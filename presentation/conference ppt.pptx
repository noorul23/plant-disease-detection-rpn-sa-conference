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75" r:id="rId2"/>
    <p:sldId id="257" r:id="rId3"/>
    <p:sldId id="258" r:id="rId4"/>
    <p:sldId id="259" r:id="rId5"/>
    <p:sldId id="260" r:id="rId6"/>
    <p:sldId id="261" r:id="rId7"/>
    <p:sldId id="266" r:id="rId8"/>
    <p:sldId id="267" r:id="rId9"/>
    <p:sldId id="268" r:id="rId10"/>
    <p:sldId id="269" r:id="rId11"/>
    <p:sldId id="271" r:id="rId12"/>
    <p:sldId id="262" r:id="rId13"/>
    <p:sldId id="272" r:id="rId14"/>
    <p:sldId id="273" r:id="rId15"/>
    <p:sldId id="264" r:id="rId16"/>
    <p:sldId id="265" r:id="rId17"/>
    <p:sldId id="274"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7" d="100"/>
          <a:sy n="87"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2EAD4F-EA3C-02C4-C2A0-EE8F31A153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8667E0B-FA26-3C79-9BF0-690CD52181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4717D1-5F1A-4103-84C4-23EC253FBA13}" type="datetimeFigureOut">
              <a:rPr lang="en-IN" smtClean="0"/>
              <a:t>29-04-2025</a:t>
            </a:fld>
            <a:endParaRPr lang="en-IN"/>
          </a:p>
        </p:txBody>
      </p:sp>
      <p:sp>
        <p:nvSpPr>
          <p:cNvPr id="4" name="Footer Placeholder 3">
            <a:extLst>
              <a:ext uri="{FF2B5EF4-FFF2-40B4-BE49-F238E27FC236}">
                <a16:creationId xmlns:a16="http://schemas.microsoft.com/office/drawing/2014/main" id="{9C27395C-40B3-D9EC-AC54-5622A06E44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9691F2C-62BB-A9B7-2256-F4F1F6FEC1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4944C-8465-4CE6-8792-F483AD4BC144}" type="slidenum">
              <a:rPr lang="en-IN" smtClean="0"/>
              <a:t>‹#›</a:t>
            </a:fld>
            <a:endParaRPr lang="en-IN"/>
          </a:p>
        </p:txBody>
      </p:sp>
    </p:spTree>
    <p:extLst>
      <p:ext uri="{BB962C8B-B14F-4D97-AF65-F5344CB8AC3E}">
        <p14:creationId xmlns:p14="http://schemas.microsoft.com/office/powerpoint/2010/main" val="1168511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DFDCF-5852-43E9-B959-3320A9149C5C}" type="datetimeFigureOut">
              <a:rPr lang="en-IN" smtClean="0"/>
              <a:t>29-04-2025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A76A4F-8902-4002-B949-10DC0216B538}" type="slidenum">
              <a:rPr lang="en-IN" smtClean="0"/>
              <a:t>‹#›</a:t>
            </a:fld>
            <a:endParaRPr lang="en-IN"/>
          </a:p>
        </p:txBody>
      </p:sp>
    </p:spTree>
    <p:extLst>
      <p:ext uri="{BB962C8B-B14F-4D97-AF65-F5344CB8AC3E}">
        <p14:creationId xmlns:p14="http://schemas.microsoft.com/office/powerpoint/2010/main" val="263842368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E8D8-0130-2EFC-B6A5-CBA1CF3073E2}"/>
              </a:ext>
            </a:extLst>
          </p:cNvPr>
          <p:cNvSpPr>
            <a:spLocks noGrp="1"/>
          </p:cNvSpPr>
          <p:nvPr>
            <p:ph type="ctrTitle" hasCustomPrompt="1"/>
          </p:nvPr>
        </p:nvSpPr>
        <p:spPr>
          <a:xfrm>
            <a:off x="1524000" y="1122363"/>
            <a:ext cx="9144000" cy="2387600"/>
          </a:xfrm>
        </p:spPr>
        <p:txBody>
          <a:bodyPr anchor="b">
            <a:normAutofit/>
          </a:bodyPr>
          <a:lstStyle>
            <a:lvl1pPr algn="ctr">
              <a:defRPr sz="4800">
                <a:latin typeface="Arial" panose="020B0604020202020204" pitchFamily="34" charset="0"/>
                <a:cs typeface="Arial" panose="020B0604020202020204" pitchFamily="34" charset="0"/>
              </a:defRPr>
            </a:lvl1pPr>
          </a:lstStyle>
          <a:p>
            <a:r>
              <a:rPr lang="en-US" dirty="0"/>
              <a:t>TITLE OF THE RESEARCH ARTICLE</a:t>
            </a:r>
            <a:endParaRPr lang="en-IN" dirty="0"/>
          </a:p>
        </p:txBody>
      </p:sp>
      <p:sp>
        <p:nvSpPr>
          <p:cNvPr id="3" name="Subtitle 2">
            <a:extLst>
              <a:ext uri="{FF2B5EF4-FFF2-40B4-BE49-F238E27FC236}">
                <a16:creationId xmlns:a16="http://schemas.microsoft.com/office/drawing/2014/main" id="{7E939359-C17B-4AAA-C493-9DF900DE7AF3}"/>
              </a:ext>
            </a:extLst>
          </p:cNvPr>
          <p:cNvSpPr>
            <a:spLocks noGrp="1"/>
          </p:cNvSpPr>
          <p:nvPr>
            <p:ph type="subTitle" idx="1" hasCustomPrompt="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details</a:t>
            </a:r>
            <a:endParaRPr lang="en-IN" dirty="0"/>
          </a:p>
        </p:txBody>
      </p:sp>
      <p:sp>
        <p:nvSpPr>
          <p:cNvPr id="4" name="Date Placeholder 3">
            <a:extLst>
              <a:ext uri="{FF2B5EF4-FFF2-40B4-BE49-F238E27FC236}">
                <a16:creationId xmlns:a16="http://schemas.microsoft.com/office/drawing/2014/main" id="{46D648A7-F99F-4885-09F7-9B773CCB3796}"/>
              </a:ext>
            </a:extLst>
          </p:cNvPr>
          <p:cNvSpPr>
            <a:spLocks noGrp="1"/>
          </p:cNvSpPr>
          <p:nvPr>
            <p:ph type="dt" sz="half" idx="10"/>
          </p:nvPr>
        </p:nvSpPr>
        <p:spPr/>
        <p:txBody>
          <a:bodyPr/>
          <a:lstStyle/>
          <a:p>
            <a:fld id="{C845DE48-AF50-4BB6-91FC-969BC9D061FF}" type="datetime1">
              <a:rPr lang="en-IN" smtClean="0"/>
              <a:t>29-04-2025</a:t>
            </a:fld>
            <a:endParaRPr lang="en-IN"/>
          </a:p>
        </p:txBody>
      </p:sp>
      <p:sp>
        <p:nvSpPr>
          <p:cNvPr id="5" name="Footer Placeholder 4">
            <a:extLst>
              <a:ext uri="{FF2B5EF4-FFF2-40B4-BE49-F238E27FC236}">
                <a16:creationId xmlns:a16="http://schemas.microsoft.com/office/drawing/2014/main" id="{D96B4D15-58BB-50F8-157B-5F07439E214C}"/>
              </a:ext>
            </a:extLst>
          </p:cNvPr>
          <p:cNvSpPr>
            <a:spLocks noGrp="1"/>
          </p:cNvSpPr>
          <p:nvPr>
            <p:ph type="ftr" sz="quarter" idx="11"/>
          </p:nvPr>
        </p:nvSpPr>
        <p:spPr/>
        <p:txBody>
          <a:bodyPr/>
          <a:lstStyle/>
          <a:p>
            <a:r>
              <a:rPr lang="en-US" dirty="0"/>
              <a:t>4</a:t>
            </a:r>
            <a:r>
              <a:rPr lang="en-US" baseline="30000" dirty="0"/>
              <a:t>TH</a:t>
            </a:r>
            <a:r>
              <a:rPr lang="en-US" dirty="0"/>
              <a:t> International conference on Deep sciences for  computing and communications  (ICONDEEPCOM 2025)</a:t>
            </a:r>
            <a:endParaRPr lang="en-IN" dirty="0"/>
          </a:p>
        </p:txBody>
      </p:sp>
      <p:sp>
        <p:nvSpPr>
          <p:cNvPr id="6" name="Slide Number Placeholder 5">
            <a:extLst>
              <a:ext uri="{FF2B5EF4-FFF2-40B4-BE49-F238E27FC236}">
                <a16:creationId xmlns:a16="http://schemas.microsoft.com/office/drawing/2014/main" id="{BFEB17FF-7F8B-B2F3-74CE-065D205C86B0}"/>
              </a:ext>
            </a:extLst>
          </p:cNvPr>
          <p:cNvSpPr>
            <a:spLocks noGrp="1"/>
          </p:cNvSpPr>
          <p:nvPr>
            <p:ph type="sldNum" sz="quarter" idx="12"/>
          </p:nvPr>
        </p:nvSpPr>
        <p:spPr/>
        <p:txBody>
          <a:bodyPr/>
          <a:lstStyle/>
          <a:p>
            <a:fld id="{A3972B19-0707-4BA0-BBBD-3AAEEE218156}" type="slidenum">
              <a:rPr lang="en-IN" smtClean="0"/>
              <a:t>‹#›</a:t>
            </a:fld>
            <a:endParaRPr lang="en-IN" dirty="0"/>
          </a:p>
        </p:txBody>
      </p:sp>
      <p:pic>
        <p:nvPicPr>
          <p:cNvPr id="1026" name="Picture 2" descr="SRM Institute of Science and Technology - Wikipedia">
            <a:extLst>
              <a:ext uri="{FF2B5EF4-FFF2-40B4-BE49-F238E27FC236}">
                <a16:creationId xmlns:a16="http://schemas.microsoft.com/office/drawing/2014/main" id="{B6D6C7EF-87ED-9151-5E9C-8E2EF45DF7F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36525"/>
            <a:ext cx="2402958" cy="8092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iversity of Putra Malaysia - Wikipedia">
            <a:extLst>
              <a:ext uri="{FF2B5EF4-FFF2-40B4-BE49-F238E27FC236}">
                <a16:creationId xmlns:a16="http://schemas.microsoft.com/office/drawing/2014/main" id="{D19F8C0C-3500-100D-222E-2643149C96C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40382" y="-6350"/>
            <a:ext cx="1251618" cy="1399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227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9A52-2924-43EB-8F79-27919D9A7301}"/>
              </a:ext>
            </a:extLst>
          </p:cNvPr>
          <p:cNvSpPr>
            <a:spLocks noGrp="1"/>
          </p:cNvSpPr>
          <p:nvPr>
            <p:ph type="title"/>
          </p:nvPr>
        </p:nvSpPr>
        <p:spPr>
          <a:xfrm>
            <a:off x="838200" y="1125198"/>
            <a:ext cx="10515600" cy="1109835"/>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F3C72EA7-46D5-3F04-8E5A-9E884B7D0B9A}"/>
              </a:ext>
            </a:extLst>
          </p:cNvPr>
          <p:cNvSpPr>
            <a:spLocks noGrp="1"/>
          </p:cNvSpPr>
          <p:nvPr>
            <p:ph idx="1"/>
          </p:nvPr>
        </p:nvSpPr>
        <p:spPr>
          <a:xfrm>
            <a:off x="838200" y="2307265"/>
            <a:ext cx="10515600" cy="386969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D55EFE06-F678-DA7F-F428-7EEEDDC1F13D}"/>
              </a:ext>
            </a:extLst>
          </p:cNvPr>
          <p:cNvSpPr>
            <a:spLocks noGrp="1"/>
          </p:cNvSpPr>
          <p:nvPr>
            <p:ph type="dt" sz="half" idx="10"/>
          </p:nvPr>
        </p:nvSpPr>
        <p:spPr/>
        <p:txBody>
          <a:bodyPr/>
          <a:lstStyle/>
          <a:p>
            <a:fld id="{0B044ADE-492F-4CAF-9B32-8459B115D821}" type="datetime1">
              <a:rPr lang="en-IN" smtClean="0"/>
              <a:t>29-04-2025</a:t>
            </a:fld>
            <a:endParaRPr lang="en-IN"/>
          </a:p>
        </p:txBody>
      </p:sp>
      <p:sp>
        <p:nvSpPr>
          <p:cNvPr id="5" name="Footer Placeholder 4">
            <a:extLst>
              <a:ext uri="{FF2B5EF4-FFF2-40B4-BE49-F238E27FC236}">
                <a16:creationId xmlns:a16="http://schemas.microsoft.com/office/drawing/2014/main" id="{5A389CC6-C97E-9F37-0D6F-5F61BB4B479A}"/>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024CFC08-79EA-9F3C-CDDA-B5B7A939989E}"/>
              </a:ext>
            </a:extLst>
          </p:cNvPr>
          <p:cNvSpPr>
            <a:spLocks noGrp="1"/>
          </p:cNvSpPr>
          <p:nvPr>
            <p:ph type="sldNum" sz="quarter" idx="12"/>
          </p:nvPr>
        </p:nvSpPr>
        <p:spPr/>
        <p:txBody>
          <a:bodyPr/>
          <a:lstStyle/>
          <a:p>
            <a:fld id="{A3972B19-0707-4BA0-BBBD-3AAEEE218156}" type="slidenum">
              <a:rPr lang="en-IN" smtClean="0"/>
              <a:t>‹#›</a:t>
            </a:fld>
            <a:endParaRPr lang="en-IN"/>
          </a:p>
        </p:txBody>
      </p:sp>
      <p:pic>
        <p:nvPicPr>
          <p:cNvPr id="7" name="Picture 2" descr="SRM Institute of Science and Technology - Wikipedia">
            <a:extLst>
              <a:ext uri="{FF2B5EF4-FFF2-40B4-BE49-F238E27FC236}">
                <a16:creationId xmlns:a16="http://schemas.microsoft.com/office/drawing/2014/main" id="{C0BBEB6B-5953-E792-C9C0-19B5A96D220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36525"/>
            <a:ext cx="2402958" cy="8092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University of Putra Malaysia - Wikipedia">
            <a:extLst>
              <a:ext uri="{FF2B5EF4-FFF2-40B4-BE49-F238E27FC236}">
                <a16:creationId xmlns:a16="http://schemas.microsoft.com/office/drawing/2014/main" id="{7904046C-2C87-CE41-18DC-878A3F3CCF1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40382" y="-6350"/>
            <a:ext cx="1251618" cy="1399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91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9A52-2924-43EB-8F79-27919D9A7301}"/>
              </a:ext>
            </a:extLst>
          </p:cNvPr>
          <p:cNvSpPr>
            <a:spLocks noGrp="1"/>
          </p:cNvSpPr>
          <p:nvPr>
            <p:ph type="title"/>
          </p:nvPr>
        </p:nvSpPr>
        <p:spPr>
          <a:xfrm>
            <a:off x="838200" y="1125198"/>
            <a:ext cx="10515600" cy="1109835"/>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F3C72EA7-46D5-3F04-8E5A-9E884B7D0B9A}"/>
              </a:ext>
            </a:extLst>
          </p:cNvPr>
          <p:cNvSpPr>
            <a:spLocks noGrp="1"/>
          </p:cNvSpPr>
          <p:nvPr>
            <p:ph idx="1"/>
          </p:nvPr>
        </p:nvSpPr>
        <p:spPr>
          <a:xfrm>
            <a:off x="838200" y="2307265"/>
            <a:ext cx="10515600" cy="386969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D55EFE06-F678-DA7F-F428-7EEEDDC1F13D}"/>
              </a:ext>
            </a:extLst>
          </p:cNvPr>
          <p:cNvSpPr>
            <a:spLocks noGrp="1"/>
          </p:cNvSpPr>
          <p:nvPr>
            <p:ph type="dt" sz="half" idx="10"/>
          </p:nvPr>
        </p:nvSpPr>
        <p:spPr/>
        <p:txBody>
          <a:bodyPr/>
          <a:lstStyle/>
          <a:p>
            <a:fld id="{0B044ADE-492F-4CAF-9B32-8459B115D821}" type="datetime1">
              <a:rPr lang="en-IN" smtClean="0"/>
              <a:t>29-04-2025</a:t>
            </a:fld>
            <a:endParaRPr lang="en-IN"/>
          </a:p>
        </p:txBody>
      </p:sp>
      <p:sp>
        <p:nvSpPr>
          <p:cNvPr id="5" name="Footer Placeholder 4">
            <a:extLst>
              <a:ext uri="{FF2B5EF4-FFF2-40B4-BE49-F238E27FC236}">
                <a16:creationId xmlns:a16="http://schemas.microsoft.com/office/drawing/2014/main" id="{5A389CC6-C97E-9F37-0D6F-5F61BB4B479A}"/>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024CFC08-79EA-9F3C-CDDA-B5B7A939989E}"/>
              </a:ext>
            </a:extLst>
          </p:cNvPr>
          <p:cNvSpPr>
            <a:spLocks noGrp="1"/>
          </p:cNvSpPr>
          <p:nvPr>
            <p:ph type="sldNum" sz="quarter" idx="12"/>
          </p:nvPr>
        </p:nvSpPr>
        <p:spPr/>
        <p:txBody>
          <a:bodyPr/>
          <a:lstStyle/>
          <a:p>
            <a:fld id="{A3972B19-0707-4BA0-BBBD-3AAEEE218156}" type="slidenum">
              <a:rPr lang="en-IN" smtClean="0"/>
              <a:t>‹#›</a:t>
            </a:fld>
            <a:endParaRPr lang="en-IN"/>
          </a:p>
        </p:txBody>
      </p:sp>
      <p:pic>
        <p:nvPicPr>
          <p:cNvPr id="7" name="Picture 2" descr="SRM Institute of Science and Technology - Wikipedia">
            <a:extLst>
              <a:ext uri="{FF2B5EF4-FFF2-40B4-BE49-F238E27FC236}">
                <a16:creationId xmlns:a16="http://schemas.microsoft.com/office/drawing/2014/main" id="{C0BBEB6B-5953-E792-C9C0-19B5A96D220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36525"/>
            <a:ext cx="2402958" cy="8092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University of Putra Malaysia - Wikipedia">
            <a:extLst>
              <a:ext uri="{FF2B5EF4-FFF2-40B4-BE49-F238E27FC236}">
                <a16:creationId xmlns:a16="http://schemas.microsoft.com/office/drawing/2014/main" id="{7904046C-2C87-CE41-18DC-878A3F3CCF1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40382" y="-6350"/>
            <a:ext cx="1251618" cy="1399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335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9A52-2924-43EB-8F79-27919D9A7301}"/>
              </a:ext>
            </a:extLst>
          </p:cNvPr>
          <p:cNvSpPr>
            <a:spLocks noGrp="1"/>
          </p:cNvSpPr>
          <p:nvPr>
            <p:ph type="title"/>
          </p:nvPr>
        </p:nvSpPr>
        <p:spPr>
          <a:xfrm>
            <a:off x="838200" y="1125198"/>
            <a:ext cx="10515600" cy="1109835"/>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F3C72EA7-46D5-3F04-8E5A-9E884B7D0B9A}"/>
              </a:ext>
            </a:extLst>
          </p:cNvPr>
          <p:cNvSpPr>
            <a:spLocks noGrp="1"/>
          </p:cNvSpPr>
          <p:nvPr>
            <p:ph idx="1"/>
          </p:nvPr>
        </p:nvSpPr>
        <p:spPr>
          <a:xfrm>
            <a:off x="838200" y="2307265"/>
            <a:ext cx="10515600" cy="386969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D55EFE06-F678-DA7F-F428-7EEEDDC1F13D}"/>
              </a:ext>
            </a:extLst>
          </p:cNvPr>
          <p:cNvSpPr>
            <a:spLocks noGrp="1"/>
          </p:cNvSpPr>
          <p:nvPr>
            <p:ph type="dt" sz="half" idx="10"/>
          </p:nvPr>
        </p:nvSpPr>
        <p:spPr/>
        <p:txBody>
          <a:bodyPr/>
          <a:lstStyle/>
          <a:p>
            <a:fld id="{0B044ADE-492F-4CAF-9B32-8459B115D821}" type="datetime1">
              <a:rPr lang="en-IN" smtClean="0"/>
              <a:t>29-04-2025</a:t>
            </a:fld>
            <a:endParaRPr lang="en-IN"/>
          </a:p>
        </p:txBody>
      </p:sp>
      <p:sp>
        <p:nvSpPr>
          <p:cNvPr id="5" name="Footer Placeholder 4">
            <a:extLst>
              <a:ext uri="{FF2B5EF4-FFF2-40B4-BE49-F238E27FC236}">
                <a16:creationId xmlns:a16="http://schemas.microsoft.com/office/drawing/2014/main" id="{5A389CC6-C97E-9F37-0D6F-5F61BB4B479A}"/>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024CFC08-79EA-9F3C-CDDA-B5B7A939989E}"/>
              </a:ext>
            </a:extLst>
          </p:cNvPr>
          <p:cNvSpPr>
            <a:spLocks noGrp="1"/>
          </p:cNvSpPr>
          <p:nvPr>
            <p:ph type="sldNum" sz="quarter" idx="12"/>
          </p:nvPr>
        </p:nvSpPr>
        <p:spPr/>
        <p:txBody>
          <a:bodyPr/>
          <a:lstStyle/>
          <a:p>
            <a:fld id="{A3972B19-0707-4BA0-BBBD-3AAEEE218156}" type="slidenum">
              <a:rPr lang="en-IN" smtClean="0"/>
              <a:t>‹#›</a:t>
            </a:fld>
            <a:endParaRPr lang="en-IN"/>
          </a:p>
        </p:txBody>
      </p:sp>
      <p:pic>
        <p:nvPicPr>
          <p:cNvPr id="7" name="Picture 2" descr="SRM Institute of Science and Technology - Wikipedia">
            <a:extLst>
              <a:ext uri="{FF2B5EF4-FFF2-40B4-BE49-F238E27FC236}">
                <a16:creationId xmlns:a16="http://schemas.microsoft.com/office/drawing/2014/main" id="{C0BBEB6B-5953-E792-C9C0-19B5A96D220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36525"/>
            <a:ext cx="2402958" cy="8092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University of Putra Malaysia - Wikipedia">
            <a:extLst>
              <a:ext uri="{FF2B5EF4-FFF2-40B4-BE49-F238E27FC236}">
                <a16:creationId xmlns:a16="http://schemas.microsoft.com/office/drawing/2014/main" id="{7904046C-2C87-CE41-18DC-878A3F3CCF1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40382" y="-6350"/>
            <a:ext cx="1251618" cy="1399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480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9A52-2924-43EB-8F79-27919D9A7301}"/>
              </a:ext>
            </a:extLst>
          </p:cNvPr>
          <p:cNvSpPr>
            <a:spLocks noGrp="1"/>
          </p:cNvSpPr>
          <p:nvPr>
            <p:ph type="title"/>
          </p:nvPr>
        </p:nvSpPr>
        <p:spPr>
          <a:xfrm>
            <a:off x="838200" y="1125198"/>
            <a:ext cx="10515600" cy="1109835"/>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F3C72EA7-46D5-3F04-8E5A-9E884B7D0B9A}"/>
              </a:ext>
            </a:extLst>
          </p:cNvPr>
          <p:cNvSpPr>
            <a:spLocks noGrp="1"/>
          </p:cNvSpPr>
          <p:nvPr>
            <p:ph idx="1"/>
          </p:nvPr>
        </p:nvSpPr>
        <p:spPr>
          <a:xfrm>
            <a:off x="838200" y="2307265"/>
            <a:ext cx="10515600" cy="386969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D55EFE06-F678-DA7F-F428-7EEEDDC1F13D}"/>
              </a:ext>
            </a:extLst>
          </p:cNvPr>
          <p:cNvSpPr>
            <a:spLocks noGrp="1"/>
          </p:cNvSpPr>
          <p:nvPr>
            <p:ph type="dt" sz="half" idx="10"/>
          </p:nvPr>
        </p:nvSpPr>
        <p:spPr/>
        <p:txBody>
          <a:bodyPr/>
          <a:lstStyle/>
          <a:p>
            <a:fld id="{0B044ADE-492F-4CAF-9B32-8459B115D821}" type="datetime1">
              <a:rPr lang="en-IN" smtClean="0"/>
              <a:t>29-04-2025</a:t>
            </a:fld>
            <a:endParaRPr lang="en-IN"/>
          </a:p>
        </p:txBody>
      </p:sp>
      <p:sp>
        <p:nvSpPr>
          <p:cNvPr id="5" name="Footer Placeholder 4">
            <a:extLst>
              <a:ext uri="{FF2B5EF4-FFF2-40B4-BE49-F238E27FC236}">
                <a16:creationId xmlns:a16="http://schemas.microsoft.com/office/drawing/2014/main" id="{5A389CC6-C97E-9F37-0D6F-5F61BB4B479A}"/>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024CFC08-79EA-9F3C-CDDA-B5B7A939989E}"/>
              </a:ext>
            </a:extLst>
          </p:cNvPr>
          <p:cNvSpPr>
            <a:spLocks noGrp="1"/>
          </p:cNvSpPr>
          <p:nvPr>
            <p:ph type="sldNum" sz="quarter" idx="12"/>
          </p:nvPr>
        </p:nvSpPr>
        <p:spPr/>
        <p:txBody>
          <a:bodyPr/>
          <a:lstStyle/>
          <a:p>
            <a:fld id="{A3972B19-0707-4BA0-BBBD-3AAEEE218156}" type="slidenum">
              <a:rPr lang="en-IN" smtClean="0"/>
              <a:t>‹#›</a:t>
            </a:fld>
            <a:endParaRPr lang="en-IN"/>
          </a:p>
        </p:txBody>
      </p:sp>
      <p:pic>
        <p:nvPicPr>
          <p:cNvPr id="7" name="Picture 2" descr="SRM Institute of Science and Technology - Wikipedia">
            <a:extLst>
              <a:ext uri="{FF2B5EF4-FFF2-40B4-BE49-F238E27FC236}">
                <a16:creationId xmlns:a16="http://schemas.microsoft.com/office/drawing/2014/main" id="{C0BBEB6B-5953-E792-C9C0-19B5A96D220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36525"/>
            <a:ext cx="2402958" cy="8092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University of Putra Malaysia - Wikipedia">
            <a:extLst>
              <a:ext uri="{FF2B5EF4-FFF2-40B4-BE49-F238E27FC236}">
                <a16:creationId xmlns:a16="http://schemas.microsoft.com/office/drawing/2014/main" id="{7904046C-2C87-CE41-18DC-878A3F3CCF1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40382" y="-6350"/>
            <a:ext cx="1251618" cy="1399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71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B2BF6-400C-3413-FEF7-5B3C47D180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626705-B125-3160-EDC2-B9396895EF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DC4C8B-D277-1515-3397-DEEEF53288F1}"/>
              </a:ext>
            </a:extLst>
          </p:cNvPr>
          <p:cNvSpPr>
            <a:spLocks noGrp="1"/>
          </p:cNvSpPr>
          <p:nvPr>
            <p:ph type="dt" sz="half" idx="10"/>
          </p:nvPr>
        </p:nvSpPr>
        <p:spPr/>
        <p:txBody>
          <a:bodyPr/>
          <a:lstStyle/>
          <a:p>
            <a:fld id="{C80F40C3-175B-4639-B3A4-8F1D7DF6ABE5}" type="datetime1">
              <a:rPr lang="en-IN" smtClean="0"/>
              <a:t>29-04-2025</a:t>
            </a:fld>
            <a:endParaRPr lang="en-IN"/>
          </a:p>
        </p:txBody>
      </p:sp>
      <p:sp>
        <p:nvSpPr>
          <p:cNvPr id="5" name="Footer Placeholder 4">
            <a:extLst>
              <a:ext uri="{FF2B5EF4-FFF2-40B4-BE49-F238E27FC236}">
                <a16:creationId xmlns:a16="http://schemas.microsoft.com/office/drawing/2014/main" id="{0243840A-4A89-F62F-234B-EEE06494E567}"/>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0E4E51DD-7765-D784-4DCE-8AE0D490F54F}"/>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908650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C6301-F101-A285-4BA4-3093853A1B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68D2B1-FDEC-F793-0DA5-31212D0AC9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FD532D-866A-4BBD-C27D-8E7583F1DC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1E7D83-052D-BAC3-3FF4-52C70440FD29}"/>
              </a:ext>
            </a:extLst>
          </p:cNvPr>
          <p:cNvSpPr>
            <a:spLocks noGrp="1"/>
          </p:cNvSpPr>
          <p:nvPr>
            <p:ph type="dt" sz="half" idx="10"/>
          </p:nvPr>
        </p:nvSpPr>
        <p:spPr/>
        <p:txBody>
          <a:bodyPr/>
          <a:lstStyle/>
          <a:p>
            <a:fld id="{EB17F9F2-AA87-4E0F-83BF-66C8F12CBF9F}" type="datetime1">
              <a:rPr lang="en-IN" smtClean="0"/>
              <a:t>29-04-2025</a:t>
            </a:fld>
            <a:endParaRPr lang="en-IN"/>
          </a:p>
        </p:txBody>
      </p:sp>
      <p:sp>
        <p:nvSpPr>
          <p:cNvPr id="6" name="Footer Placeholder 5">
            <a:extLst>
              <a:ext uri="{FF2B5EF4-FFF2-40B4-BE49-F238E27FC236}">
                <a16:creationId xmlns:a16="http://schemas.microsoft.com/office/drawing/2014/main" id="{DAAA8CA1-73C2-5A23-A797-6114D77AAC4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7" name="Slide Number Placeholder 6">
            <a:extLst>
              <a:ext uri="{FF2B5EF4-FFF2-40B4-BE49-F238E27FC236}">
                <a16:creationId xmlns:a16="http://schemas.microsoft.com/office/drawing/2014/main" id="{4C2CA23C-A736-1888-3496-6A539331B6D2}"/>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1516026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3DD2-A234-7978-578E-DCA9735018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E1956-5DAA-218C-A231-3FC00D5793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D38C3F-AD53-BBC5-82F3-54D4499518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FF9E44-B296-8B33-14C3-16D1BFF12A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0549E0-2D08-6C3A-D3CA-73B7B7C0DA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01AF0C-C88D-5340-6D31-675ABBA08C1F}"/>
              </a:ext>
            </a:extLst>
          </p:cNvPr>
          <p:cNvSpPr>
            <a:spLocks noGrp="1"/>
          </p:cNvSpPr>
          <p:nvPr>
            <p:ph type="dt" sz="half" idx="10"/>
          </p:nvPr>
        </p:nvSpPr>
        <p:spPr/>
        <p:txBody>
          <a:bodyPr/>
          <a:lstStyle/>
          <a:p>
            <a:fld id="{32EA8F6F-E224-4DD0-817C-30458DD335E9}" type="datetime1">
              <a:rPr lang="en-IN" smtClean="0"/>
              <a:t>29-04-2025</a:t>
            </a:fld>
            <a:endParaRPr lang="en-IN"/>
          </a:p>
        </p:txBody>
      </p:sp>
      <p:sp>
        <p:nvSpPr>
          <p:cNvPr id="8" name="Footer Placeholder 7">
            <a:extLst>
              <a:ext uri="{FF2B5EF4-FFF2-40B4-BE49-F238E27FC236}">
                <a16:creationId xmlns:a16="http://schemas.microsoft.com/office/drawing/2014/main" id="{8926A840-D7BF-AA78-C472-B57CB961D827}"/>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9" name="Slide Number Placeholder 8">
            <a:extLst>
              <a:ext uri="{FF2B5EF4-FFF2-40B4-BE49-F238E27FC236}">
                <a16:creationId xmlns:a16="http://schemas.microsoft.com/office/drawing/2014/main" id="{6757A1F3-3A83-7F67-60BA-B4D1435A2FDD}"/>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2522785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E80F1-92C3-46B7-F511-9B864A718E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256F01-B6B9-B60B-D6A9-713F8ECA211D}"/>
              </a:ext>
            </a:extLst>
          </p:cNvPr>
          <p:cNvSpPr>
            <a:spLocks noGrp="1"/>
          </p:cNvSpPr>
          <p:nvPr>
            <p:ph type="dt" sz="half" idx="10"/>
          </p:nvPr>
        </p:nvSpPr>
        <p:spPr/>
        <p:txBody>
          <a:bodyPr/>
          <a:lstStyle/>
          <a:p>
            <a:fld id="{C1B2E3BE-2AC6-4EF4-8EA2-8EE5E8CC60FF}" type="datetime1">
              <a:rPr lang="en-IN" smtClean="0"/>
              <a:t>29-04-2025</a:t>
            </a:fld>
            <a:endParaRPr lang="en-IN"/>
          </a:p>
        </p:txBody>
      </p:sp>
      <p:sp>
        <p:nvSpPr>
          <p:cNvPr id="4" name="Footer Placeholder 3">
            <a:extLst>
              <a:ext uri="{FF2B5EF4-FFF2-40B4-BE49-F238E27FC236}">
                <a16:creationId xmlns:a16="http://schemas.microsoft.com/office/drawing/2014/main" id="{79BBB675-5BB9-DD18-3B94-1C60F0276190}"/>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5" name="Slide Number Placeholder 4">
            <a:extLst>
              <a:ext uri="{FF2B5EF4-FFF2-40B4-BE49-F238E27FC236}">
                <a16:creationId xmlns:a16="http://schemas.microsoft.com/office/drawing/2014/main" id="{D21C6648-3316-7072-7AD1-1A3D1E59391D}"/>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418691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516688-A977-8569-A396-E0DA7F29BBB7}"/>
              </a:ext>
            </a:extLst>
          </p:cNvPr>
          <p:cNvSpPr>
            <a:spLocks noGrp="1"/>
          </p:cNvSpPr>
          <p:nvPr>
            <p:ph type="dt" sz="half" idx="10"/>
          </p:nvPr>
        </p:nvSpPr>
        <p:spPr/>
        <p:txBody>
          <a:bodyPr/>
          <a:lstStyle/>
          <a:p>
            <a:fld id="{0D55A4A7-CDF9-445B-8139-E92690B3CBEC}" type="datetime1">
              <a:rPr lang="en-IN" smtClean="0"/>
              <a:t>29-04-2025</a:t>
            </a:fld>
            <a:endParaRPr lang="en-IN"/>
          </a:p>
        </p:txBody>
      </p:sp>
      <p:sp>
        <p:nvSpPr>
          <p:cNvPr id="3" name="Footer Placeholder 2">
            <a:extLst>
              <a:ext uri="{FF2B5EF4-FFF2-40B4-BE49-F238E27FC236}">
                <a16:creationId xmlns:a16="http://schemas.microsoft.com/office/drawing/2014/main" id="{57264165-6C91-C542-EC36-12E27B66BC95}"/>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4" name="Slide Number Placeholder 3">
            <a:extLst>
              <a:ext uri="{FF2B5EF4-FFF2-40B4-BE49-F238E27FC236}">
                <a16:creationId xmlns:a16="http://schemas.microsoft.com/office/drawing/2014/main" id="{58D48E7B-A186-F0C7-BBF8-DCA38E961BFD}"/>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1098804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02B05-1680-0B93-7F80-FA6581A3D6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7F3D31-9E84-3AA4-2BC6-B03C0EA063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CDE9A5-9FE4-276D-FA78-D6A12588CB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75FE91-378E-4E51-A4BB-C85C6C4BE5A0}"/>
              </a:ext>
            </a:extLst>
          </p:cNvPr>
          <p:cNvSpPr>
            <a:spLocks noGrp="1"/>
          </p:cNvSpPr>
          <p:nvPr>
            <p:ph type="dt" sz="half" idx="10"/>
          </p:nvPr>
        </p:nvSpPr>
        <p:spPr/>
        <p:txBody>
          <a:bodyPr/>
          <a:lstStyle/>
          <a:p>
            <a:fld id="{2CA227BF-D578-491E-A47A-323443EEEE65}" type="datetime1">
              <a:rPr lang="en-IN" smtClean="0"/>
              <a:t>29-04-2025</a:t>
            </a:fld>
            <a:endParaRPr lang="en-IN"/>
          </a:p>
        </p:txBody>
      </p:sp>
      <p:sp>
        <p:nvSpPr>
          <p:cNvPr id="6" name="Footer Placeholder 5">
            <a:extLst>
              <a:ext uri="{FF2B5EF4-FFF2-40B4-BE49-F238E27FC236}">
                <a16:creationId xmlns:a16="http://schemas.microsoft.com/office/drawing/2014/main" id="{64583A09-AE58-F3F2-2BCC-2763B9CEAFA4}"/>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7" name="Slide Number Placeholder 6">
            <a:extLst>
              <a:ext uri="{FF2B5EF4-FFF2-40B4-BE49-F238E27FC236}">
                <a16:creationId xmlns:a16="http://schemas.microsoft.com/office/drawing/2014/main" id="{3F36BC54-9451-6ED7-4147-8BE7B76B6A46}"/>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651722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2556F-317C-A7D8-2274-97A3C4FC84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19B6F6-0DFB-7321-38FB-F923507384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30792B-7792-C0F5-E3C4-D63755A1D9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04ADE4-2A30-0A32-A9ED-089AF6066F97}"/>
              </a:ext>
            </a:extLst>
          </p:cNvPr>
          <p:cNvSpPr>
            <a:spLocks noGrp="1"/>
          </p:cNvSpPr>
          <p:nvPr>
            <p:ph type="dt" sz="half" idx="10"/>
          </p:nvPr>
        </p:nvSpPr>
        <p:spPr/>
        <p:txBody>
          <a:bodyPr/>
          <a:lstStyle/>
          <a:p>
            <a:fld id="{B25B84BC-E332-4F8E-AB75-ECDD9ECB03C1}" type="datetime1">
              <a:rPr lang="en-IN" smtClean="0"/>
              <a:t>29-04-2025</a:t>
            </a:fld>
            <a:endParaRPr lang="en-IN"/>
          </a:p>
        </p:txBody>
      </p:sp>
      <p:sp>
        <p:nvSpPr>
          <p:cNvPr id="6" name="Footer Placeholder 5">
            <a:extLst>
              <a:ext uri="{FF2B5EF4-FFF2-40B4-BE49-F238E27FC236}">
                <a16:creationId xmlns:a16="http://schemas.microsoft.com/office/drawing/2014/main" id="{C1D38222-D308-505F-0DB5-ED1FD97C1DFB}"/>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7" name="Slide Number Placeholder 6">
            <a:extLst>
              <a:ext uri="{FF2B5EF4-FFF2-40B4-BE49-F238E27FC236}">
                <a16:creationId xmlns:a16="http://schemas.microsoft.com/office/drawing/2014/main" id="{F2AD33DA-9F40-5039-4768-F090972CC0F1}"/>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1356921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E4663-E6BD-8533-A23B-C1F3AFDEF1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DE97FE-7532-1444-1260-96A1ED63C4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AFD4C9-B2E0-9333-1836-14163645C741}"/>
              </a:ext>
            </a:extLst>
          </p:cNvPr>
          <p:cNvSpPr>
            <a:spLocks noGrp="1"/>
          </p:cNvSpPr>
          <p:nvPr>
            <p:ph type="dt" sz="half" idx="10"/>
          </p:nvPr>
        </p:nvSpPr>
        <p:spPr/>
        <p:txBody>
          <a:bodyPr/>
          <a:lstStyle/>
          <a:p>
            <a:fld id="{33B1BC5E-E8BE-4BA8-B585-2130CDBA8D9C}" type="datetime1">
              <a:rPr lang="en-IN" smtClean="0"/>
              <a:t>29-04-2025</a:t>
            </a:fld>
            <a:endParaRPr lang="en-IN"/>
          </a:p>
        </p:txBody>
      </p:sp>
      <p:sp>
        <p:nvSpPr>
          <p:cNvPr id="5" name="Footer Placeholder 4">
            <a:extLst>
              <a:ext uri="{FF2B5EF4-FFF2-40B4-BE49-F238E27FC236}">
                <a16:creationId xmlns:a16="http://schemas.microsoft.com/office/drawing/2014/main" id="{8950B586-8D4B-30CC-B655-9D62C0308B9A}"/>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FB355907-F966-193B-1561-825AC139FA0A}"/>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3772333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DECBF-BE88-F2BD-0BA2-A1FBE41EA3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41DF04-F88F-4E1B-7C5D-C16C6801C3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5D9212-A3A5-32B1-02FF-58812EBF46BF}"/>
              </a:ext>
            </a:extLst>
          </p:cNvPr>
          <p:cNvSpPr>
            <a:spLocks noGrp="1"/>
          </p:cNvSpPr>
          <p:nvPr>
            <p:ph type="dt" sz="half" idx="10"/>
          </p:nvPr>
        </p:nvSpPr>
        <p:spPr/>
        <p:txBody>
          <a:bodyPr/>
          <a:lstStyle/>
          <a:p>
            <a:fld id="{46760A56-879D-49F4-A5B1-532882F58DCC}" type="datetime1">
              <a:rPr lang="en-IN" smtClean="0"/>
              <a:t>29-04-2025</a:t>
            </a:fld>
            <a:endParaRPr lang="en-IN"/>
          </a:p>
        </p:txBody>
      </p:sp>
      <p:sp>
        <p:nvSpPr>
          <p:cNvPr id="5" name="Footer Placeholder 4">
            <a:extLst>
              <a:ext uri="{FF2B5EF4-FFF2-40B4-BE49-F238E27FC236}">
                <a16:creationId xmlns:a16="http://schemas.microsoft.com/office/drawing/2014/main" id="{55658511-B5D6-F4C0-C77C-C5F2E3337160}"/>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4670CCF3-EEB3-52B4-AEFE-683C38817C33}"/>
              </a:ext>
            </a:extLst>
          </p:cNvPr>
          <p:cNvSpPr>
            <a:spLocks noGrp="1"/>
          </p:cNvSpPr>
          <p:nvPr>
            <p:ph type="sldNum" sz="quarter" idx="12"/>
          </p:nvPr>
        </p:nvSpPr>
        <p:spPr/>
        <p:txBody>
          <a:bodyPr/>
          <a:lstStyle/>
          <a:p>
            <a:fld id="{A3972B19-0707-4BA0-BBBD-3AAEEE218156}" type="slidenum">
              <a:rPr lang="en-IN" smtClean="0"/>
              <a:t>‹#›</a:t>
            </a:fld>
            <a:endParaRPr lang="en-IN"/>
          </a:p>
        </p:txBody>
      </p:sp>
    </p:spTree>
    <p:extLst>
      <p:ext uri="{BB962C8B-B14F-4D97-AF65-F5344CB8AC3E}">
        <p14:creationId xmlns:p14="http://schemas.microsoft.com/office/powerpoint/2010/main" val="1151538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8DDBA6-94E0-06B0-697C-873C51471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31E9FD-8A39-FF56-CF0C-24EFA9909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2254D6-B9A8-9BB7-99E5-F5587C057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12F5FC-74C4-426B-B2DC-94C6481370A1}" type="datetime1">
              <a:rPr lang="en-IN" smtClean="0"/>
              <a:t>29-04-2025</a:t>
            </a:fld>
            <a:endParaRPr lang="en-IN"/>
          </a:p>
        </p:txBody>
      </p:sp>
      <p:sp>
        <p:nvSpPr>
          <p:cNvPr id="5" name="Footer Placeholder 4">
            <a:extLst>
              <a:ext uri="{FF2B5EF4-FFF2-40B4-BE49-F238E27FC236}">
                <a16:creationId xmlns:a16="http://schemas.microsoft.com/office/drawing/2014/main" id="{CFF35867-8D37-66CA-601B-D9C43BB4D7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51835041-4514-75AB-412B-17F77E8A05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972B19-0707-4BA0-BBBD-3AAEEE218156}" type="slidenum">
              <a:rPr lang="en-IN" smtClean="0"/>
              <a:t>‹#›</a:t>
            </a:fld>
            <a:endParaRPr lang="en-IN"/>
          </a:p>
        </p:txBody>
      </p:sp>
    </p:spTree>
    <p:extLst>
      <p:ext uri="{BB962C8B-B14F-4D97-AF65-F5344CB8AC3E}">
        <p14:creationId xmlns:p14="http://schemas.microsoft.com/office/powerpoint/2010/main" val="2536597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AFC44B0-6819-8E6B-7EA7-C717275B5346}"/>
              </a:ext>
            </a:extLst>
          </p:cNvPr>
          <p:cNvSpPr>
            <a:spLocks noGrp="1"/>
          </p:cNvSpPr>
          <p:nvPr>
            <p:ph type="dt" sz="half" idx="10"/>
          </p:nvPr>
        </p:nvSpPr>
        <p:spPr/>
        <p:txBody>
          <a:bodyPr/>
          <a:lstStyle/>
          <a:p>
            <a:fld id="{78254EDF-2D4A-4495-958D-9BD1EA56A048}" type="datetime1">
              <a:rPr lang="en-IN" smtClean="0"/>
              <a:t>29-04-2025</a:t>
            </a:fld>
            <a:endParaRPr lang="en-IN"/>
          </a:p>
        </p:txBody>
      </p:sp>
      <p:sp>
        <p:nvSpPr>
          <p:cNvPr id="5" name="Footer Placeholder 4">
            <a:extLst>
              <a:ext uri="{FF2B5EF4-FFF2-40B4-BE49-F238E27FC236}">
                <a16:creationId xmlns:a16="http://schemas.microsoft.com/office/drawing/2014/main" id="{8AA00154-3B22-741E-DE8C-D81437B4F888}"/>
              </a:ext>
            </a:extLst>
          </p:cNvPr>
          <p:cNvSpPr>
            <a:spLocks noGrp="1"/>
          </p:cNvSpPr>
          <p:nvPr>
            <p:ph type="ftr" sz="quarter" idx="11"/>
          </p:nvPr>
        </p:nvSpPr>
        <p:spPr/>
        <p:txBody>
          <a:bodyPr/>
          <a:lstStyle/>
          <a:p>
            <a:r>
              <a:rPr lang="en-US" dirty="0"/>
              <a:t>4</a:t>
            </a:r>
            <a:r>
              <a:rPr lang="en-US" baseline="30000" dirty="0"/>
              <a:t>TH</a:t>
            </a:r>
            <a:r>
              <a:rPr lang="en-US" dirty="0"/>
              <a:t> International conference on Deep sciences for  computing and communications  (ICONDEEPCOM 2025)</a:t>
            </a:r>
            <a:endParaRPr lang="en-IN" dirty="0"/>
          </a:p>
        </p:txBody>
      </p:sp>
      <p:sp>
        <p:nvSpPr>
          <p:cNvPr id="6" name="Slide Number Placeholder 5">
            <a:extLst>
              <a:ext uri="{FF2B5EF4-FFF2-40B4-BE49-F238E27FC236}">
                <a16:creationId xmlns:a16="http://schemas.microsoft.com/office/drawing/2014/main" id="{E0DA0792-B566-34D5-968D-0DBA3CEE4539}"/>
              </a:ext>
            </a:extLst>
          </p:cNvPr>
          <p:cNvSpPr>
            <a:spLocks noGrp="1"/>
          </p:cNvSpPr>
          <p:nvPr>
            <p:ph type="sldNum" sz="quarter" idx="12"/>
          </p:nvPr>
        </p:nvSpPr>
        <p:spPr/>
        <p:txBody>
          <a:bodyPr/>
          <a:lstStyle/>
          <a:p>
            <a:fld id="{A3972B19-0707-4BA0-BBBD-3AAEEE218156}" type="slidenum">
              <a:rPr lang="en-IN" smtClean="0"/>
              <a:t>1</a:t>
            </a:fld>
            <a:endParaRPr lang="en-IN" dirty="0"/>
          </a:p>
        </p:txBody>
      </p:sp>
      <p:sp>
        <p:nvSpPr>
          <p:cNvPr id="10" name="TextBox 9">
            <a:extLst>
              <a:ext uri="{FF2B5EF4-FFF2-40B4-BE49-F238E27FC236}">
                <a16:creationId xmlns:a16="http://schemas.microsoft.com/office/drawing/2014/main" id="{77DF1CC7-ABD3-68FC-8E0A-F8328BC36851}"/>
              </a:ext>
            </a:extLst>
          </p:cNvPr>
          <p:cNvSpPr txBox="1"/>
          <p:nvPr/>
        </p:nvSpPr>
        <p:spPr>
          <a:xfrm>
            <a:off x="185738" y="1515505"/>
            <a:ext cx="12006262" cy="2062103"/>
          </a:xfrm>
          <a:prstGeom prst="rect">
            <a:avLst/>
          </a:prstGeom>
          <a:noFill/>
        </p:spPr>
        <p:txBody>
          <a:bodyPr wrap="square">
            <a:spAutoFit/>
          </a:bodyPr>
          <a:lstStyle/>
          <a:p>
            <a:pPr algn="ctr"/>
            <a:r>
              <a:rPr lang="en-US" sz="3200" b="1" cap="all" dirty="0">
                <a:latin typeface="Arial" panose="020B0604020202020204" pitchFamily="34" charset="0"/>
                <a:cs typeface="Arial" panose="020B0604020202020204" pitchFamily="34" charset="0"/>
              </a:rPr>
              <a:t>Automated Early Detection of Plant Diseases using Optimized Deep Learning Techniques</a:t>
            </a:r>
            <a:br>
              <a:rPr lang="en-US" sz="3200" b="1" cap="all" dirty="0">
                <a:latin typeface="Arial" panose="020B0604020202020204" pitchFamily="34" charset="0"/>
                <a:cs typeface="Arial" panose="020B0604020202020204" pitchFamily="34" charset="0"/>
              </a:rPr>
            </a:br>
            <a:endParaRPr lang="en-US" sz="3200" b="1" cap="all" dirty="0">
              <a:latin typeface="Arial" panose="020B0604020202020204" pitchFamily="34" charset="0"/>
              <a:cs typeface="Arial" panose="020B0604020202020204" pitchFamily="34" charset="0"/>
            </a:endParaRPr>
          </a:p>
          <a:p>
            <a:pPr algn="ctr"/>
            <a:r>
              <a:rPr lang="en-US" sz="2800" b="1" cap="all" dirty="0"/>
              <a:t>Paper id:130</a:t>
            </a:r>
            <a:endParaRPr lang="en-US" sz="2800" b="1" cap="all"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660419E-A879-3C73-F63A-A1A67D6B5F42}"/>
              </a:ext>
            </a:extLst>
          </p:cNvPr>
          <p:cNvSpPr txBox="1"/>
          <p:nvPr/>
        </p:nvSpPr>
        <p:spPr>
          <a:xfrm>
            <a:off x="2769577" y="4150986"/>
            <a:ext cx="6910754" cy="1997406"/>
          </a:xfrm>
          <a:prstGeom prst="rect">
            <a:avLst/>
          </a:prstGeom>
          <a:noFill/>
        </p:spPr>
        <p:txBody>
          <a:bodyPr wrap="square">
            <a:spAutoFit/>
          </a:bodyPr>
          <a:lstStyle/>
          <a:p>
            <a:pPr algn="ctr">
              <a:lnSpc>
                <a:spcPct val="120000"/>
              </a:lnSpc>
              <a:spcBef>
                <a:spcPts val="600"/>
              </a:spcBef>
              <a:spcAft>
                <a:spcPts val="600"/>
              </a:spcAft>
            </a:pPr>
            <a:r>
              <a:rPr lang="en-US" sz="2000" dirty="0">
                <a:latin typeface="Arial" panose="020B0604020202020204" pitchFamily="34" charset="0"/>
                <a:cs typeface="Arial" panose="020B0604020202020204" pitchFamily="34" charset="0"/>
              </a:rPr>
              <a:t>Dr. G. Kavitha, Dr. P. Latchoumy, Mr. Noorul Hassan M.U</a:t>
            </a:r>
          </a:p>
          <a:p>
            <a:pPr algn="ct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Department of Information Technology</a:t>
            </a:r>
            <a:r>
              <a:rPr lang="en-US" sz="2000" dirty="0">
                <a:latin typeface="Arial" panose="020B0604020202020204" pitchFamily="34" charset="0"/>
                <a:cs typeface="Arial" panose="020B0604020202020204" pitchFamily="34" charset="0"/>
              </a:rPr>
              <a:t>,</a:t>
            </a:r>
          </a:p>
          <a:p>
            <a:pPr algn="ctr">
              <a:lnSpc>
                <a:spcPct val="120000"/>
              </a:lnSpc>
              <a:spcBef>
                <a:spcPts val="600"/>
              </a:spcBef>
              <a:spcAft>
                <a:spcPts val="600"/>
              </a:spcAft>
            </a:pPr>
            <a:r>
              <a:rPr lang="en-US" sz="2000" b="1" dirty="0">
                <a:solidFill>
                  <a:srgbClr val="C00000"/>
                </a:solidFill>
                <a:latin typeface="Arial" panose="020B0604020202020204" pitchFamily="34" charset="0"/>
                <a:cs typeface="Arial" panose="020B0604020202020204" pitchFamily="34" charset="0"/>
              </a:rPr>
              <a:t>B.S.A Crescent Institute of Science and Technology</a:t>
            </a:r>
            <a:r>
              <a:rPr lang="en-US" sz="2000" dirty="0">
                <a:latin typeface="Arial" panose="020B0604020202020204" pitchFamily="34" charset="0"/>
                <a:cs typeface="Arial" panose="020B0604020202020204" pitchFamily="34" charset="0"/>
              </a:rPr>
              <a:t>,</a:t>
            </a:r>
          </a:p>
          <a:p>
            <a:pPr algn="ctr">
              <a:lnSpc>
                <a:spcPct val="120000"/>
              </a:lnSpc>
              <a:spcBef>
                <a:spcPts val="600"/>
              </a:spcBef>
              <a:spcAft>
                <a:spcPts val="600"/>
              </a:spcAft>
            </a:pPr>
            <a:r>
              <a:rPr lang="en-US" sz="2000" dirty="0" err="1">
                <a:latin typeface="Arial" panose="020B0604020202020204" pitchFamily="34" charset="0"/>
                <a:cs typeface="Arial" panose="020B0604020202020204" pitchFamily="34" charset="0"/>
              </a:rPr>
              <a:t>Vandalur</a:t>
            </a:r>
            <a:r>
              <a:rPr lang="en-US" sz="2000" dirty="0">
                <a:latin typeface="Arial" panose="020B0604020202020204" pitchFamily="34" charset="0"/>
                <a:cs typeface="Arial" panose="020B0604020202020204" pitchFamily="34" charset="0"/>
              </a:rPr>
              <a:t>, Chennai, </a:t>
            </a:r>
            <a:r>
              <a:rPr lang="en-US" sz="2000" dirty="0" err="1">
                <a:latin typeface="Arial" panose="020B0604020202020204" pitchFamily="34" charset="0"/>
                <a:cs typeface="Arial" panose="020B0604020202020204" pitchFamily="34" charset="0"/>
              </a:rPr>
              <a:t>Tamilnadu</a:t>
            </a:r>
            <a:r>
              <a:rPr lang="en-US" sz="2000" dirty="0">
                <a:latin typeface="Arial" panose="020B0604020202020204" pitchFamily="34" charset="0"/>
                <a:cs typeface="Arial" panose="020B0604020202020204" pitchFamily="34" charset="0"/>
              </a:rPr>
              <a:t>, India</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470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75D0E5D-7C28-91D0-3EE1-C4AC2B22DFFB}"/>
              </a:ext>
            </a:extLst>
          </p:cNvPr>
          <p:cNvSpPr>
            <a:spLocks noGrp="1"/>
          </p:cNvSpPr>
          <p:nvPr>
            <p:ph type="dt" sz="half" idx="10"/>
          </p:nvPr>
        </p:nvSpPr>
        <p:spPr/>
        <p:txBody>
          <a:bodyPr/>
          <a:lstStyle/>
          <a:p>
            <a:fld id="{75094D7E-DC57-47CE-B623-DCCA4FFF2E9C}" type="datetime1">
              <a:rPr lang="en-IN" smtClean="0"/>
              <a:t>29-04-2025</a:t>
            </a:fld>
            <a:endParaRPr lang="en-IN"/>
          </a:p>
        </p:txBody>
      </p:sp>
      <p:sp>
        <p:nvSpPr>
          <p:cNvPr id="5" name="Footer Placeholder 4">
            <a:extLst>
              <a:ext uri="{FF2B5EF4-FFF2-40B4-BE49-F238E27FC236}">
                <a16:creationId xmlns:a16="http://schemas.microsoft.com/office/drawing/2014/main" id="{6BD81031-B288-499D-F5F5-9626B6F3CC9C}"/>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ED237355-2395-0B75-540E-75D8069A1FF3}"/>
              </a:ext>
            </a:extLst>
          </p:cNvPr>
          <p:cNvSpPr>
            <a:spLocks noGrp="1"/>
          </p:cNvSpPr>
          <p:nvPr>
            <p:ph type="sldNum" sz="quarter" idx="12"/>
          </p:nvPr>
        </p:nvSpPr>
        <p:spPr/>
        <p:txBody>
          <a:bodyPr/>
          <a:lstStyle/>
          <a:p>
            <a:fld id="{A3972B19-0707-4BA0-BBBD-3AAEEE218156}" type="slidenum">
              <a:rPr lang="en-IN" smtClean="0"/>
              <a:t>2</a:t>
            </a:fld>
            <a:endParaRPr lang="en-IN"/>
          </a:p>
        </p:txBody>
      </p:sp>
      <p:sp>
        <p:nvSpPr>
          <p:cNvPr id="7" name="TextBox 6">
            <a:extLst>
              <a:ext uri="{FF2B5EF4-FFF2-40B4-BE49-F238E27FC236}">
                <a16:creationId xmlns:a16="http://schemas.microsoft.com/office/drawing/2014/main" id="{EA1F3F91-6900-641A-CD6C-D35A0687AC64}"/>
              </a:ext>
            </a:extLst>
          </p:cNvPr>
          <p:cNvSpPr txBox="1"/>
          <p:nvPr/>
        </p:nvSpPr>
        <p:spPr>
          <a:xfrm>
            <a:off x="1155031" y="930442"/>
            <a:ext cx="4604084"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Abstract</a:t>
            </a:r>
          </a:p>
        </p:txBody>
      </p:sp>
      <p:sp>
        <p:nvSpPr>
          <p:cNvPr id="8" name="TextBox 7">
            <a:extLst>
              <a:ext uri="{FF2B5EF4-FFF2-40B4-BE49-F238E27FC236}">
                <a16:creationId xmlns:a16="http://schemas.microsoft.com/office/drawing/2014/main" id="{872E5735-7D1F-1CCB-6672-91848E210615}"/>
              </a:ext>
            </a:extLst>
          </p:cNvPr>
          <p:cNvSpPr txBox="1"/>
          <p:nvPr/>
        </p:nvSpPr>
        <p:spPr>
          <a:xfrm>
            <a:off x="1510976" y="1699883"/>
            <a:ext cx="9975171" cy="603697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Agriculture plays a important role in </a:t>
            </a:r>
            <a:r>
              <a:rPr lang="en-US" sz="2000" dirty="0">
                <a:solidFill>
                  <a:srgbClr val="FF0000"/>
                </a:solidFill>
                <a:latin typeface="Arial" panose="020B0604020202020204" pitchFamily="34" charset="0"/>
                <a:cs typeface="Arial" panose="020B0604020202020204" pitchFamily="34" charset="0"/>
              </a:rPr>
              <a:t>food security </a:t>
            </a:r>
            <a:r>
              <a:rPr lang="en-US" sz="2000" dirty="0">
                <a:latin typeface="Arial" panose="020B0604020202020204" pitchFamily="34" charset="0"/>
                <a:cs typeface="Arial" panose="020B0604020202020204" pitchFamily="34" charset="0"/>
              </a:rPr>
              <a:t>and supports the </a:t>
            </a:r>
            <a:r>
              <a:rPr lang="en-US" sz="2000" dirty="0">
                <a:solidFill>
                  <a:srgbClr val="FF0000"/>
                </a:solidFill>
                <a:latin typeface="Arial" panose="020B0604020202020204" pitchFamily="34" charset="0"/>
                <a:cs typeface="Arial" panose="020B0604020202020204" pitchFamily="34" charset="0"/>
              </a:rPr>
              <a:t>global economy</a:t>
            </a:r>
            <a:r>
              <a:rPr lang="en-US" sz="2000" dirty="0">
                <a:latin typeface="Arial" panose="020B0604020202020204" pitchFamily="34" charset="0"/>
                <a:cs typeface="Arial" panose="020B0604020202020204" pitchFamily="34" charset="0"/>
              </a:rPr>
              <a:t>.</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Plant diseases </a:t>
            </a:r>
            <a:r>
              <a:rPr lang="en-US" sz="2000" dirty="0">
                <a:solidFill>
                  <a:srgbClr val="FF0000"/>
                </a:solidFill>
                <a:latin typeface="Arial" panose="020B0604020202020204" pitchFamily="34" charset="0"/>
                <a:cs typeface="Arial" panose="020B0604020202020204" pitchFamily="34" charset="0"/>
              </a:rPr>
              <a:t>reduce</a:t>
            </a:r>
            <a:r>
              <a:rPr lang="en-US" sz="2000" dirty="0">
                <a:latin typeface="Arial" panose="020B0604020202020204" pitchFamily="34" charset="0"/>
                <a:cs typeface="Arial" panose="020B0604020202020204" pitchFamily="34" charset="0"/>
              </a:rPr>
              <a:t> yield significantly. Early detection is the </a:t>
            </a:r>
            <a:r>
              <a:rPr lang="en-US" sz="2000" dirty="0">
                <a:solidFill>
                  <a:srgbClr val="FF0000"/>
                </a:solidFill>
                <a:latin typeface="Arial" panose="020B0604020202020204" pitchFamily="34" charset="0"/>
                <a:cs typeface="Arial" panose="020B0604020202020204" pitchFamily="34" charset="0"/>
              </a:rPr>
              <a:t>key</a:t>
            </a:r>
            <a:r>
              <a:rPr lang="en-US" sz="2000" dirty="0">
                <a:latin typeface="Arial" panose="020B0604020202020204" pitchFamily="34" charset="0"/>
                <a:cs typeface="Arial" panose="020B0604020202020204" pitchFamily="34" charset="0"/>
              </a:rPr>
              <a:t> to minimizing losses.</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We use CNNs to </a:t>
            </a:r>
            <a:r>
              <a:rPr lang="en-US" sz="2000" dirty="0">
                <a:solidFill>
                  <a:srgbClr val="FF0000"/>
                </a:solidFill>
                <a:latin typeface="Arial" panose="020B0604020202020204" pitchFamily="34" charset="0"/>
                <a:cs typeface="Arial" panose="020B0604020202020204" pitchFamily="34" charset="0"/>
              </a:rPr>
              <a:t>extract</a:t>
            </a:r>
            <a:r>
              <a:rPr lang="en-US" sz="2000" dirty="0">
                <a:latin typeface="Arial" panose="020B0604020202020204" pitchFamily="34" charset="0"/>
                <a:cs typeface="Arial" panose="020B0604020202020204" pitchFamily="34" charset="0"/>
              </a:rPr>
              <a:t> meaningful features from plant leaf images for early-stage disease prediction.</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 novel Region Proposal Network with Self-Attention (</a:t>
            </a:r>
            <a:r>
              <a:rPr lang="en-US" sz="2000" dirty="0">
                <a:solidFill>
                  <a:srgbClr val="FF0000"/>
                </a:solidFill>
                <a:latin typeface="Arial" panose="020B0604020202020204" pitchFamily="34" charset="0"/>
                <a:cs typeface="Arial" panose="020B0604020202020204" pitchFamily="34" charset="0"/>
              </a:rPr>
              <a:t>RPN-SA</a:t>
            </a:r>
            <a:r>
              <a:rPr lang="en-US" sz="2000" dirty="0">
                <a:latin typeface="Arial" panose="020B0604020202020204" pitchFamily="34" charset="0"/>
                <a:cs typeface="Arial" panose="020B0604020202020204" pitchFamily="34" charset="0"/>
              </a:rPr>
              <a:t>) is proposed for high-accuracy localization of affected regions.</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GLCM texture </a:t>
            </a:r>
            <a:r>
              <a:rPr lang="en-US" sz="2000" dirty="0">
                <a:solidFill>
                  <a:srgbClr val="FF0000"/>
                </a:solidFill>
                <a:latin typeface="Arial" panose="020B0604020202020204" pitchFamily="34" charset="0"/>
                <a:cs typeface="Arial" panose="020B0604020202020204" pitchFamily="34" charset="0"/>
              </a:rPr>
              <a:t>features</a:t>
            </a:r>
            <a:r>
              <a:rPr lang="en-US" sz="2000" dirty="0">
                <a:latin typeface="Arial" panose="020B0604020202020204" pitchFamily="34" charset="0"/>
                <a:cs typeface="Arial" panose="020B0604020202020204" pitchFamily="34" charset="0"/>
              </a:rPr>
              <a:t> and </a:t>
            </a:r>
            <a:r>
              <a:rPr lang="en-US" sz="2000" dirty="0">
                <a:solidFill>
                  <a:srgbClr val="FF0000"/>
                </a:solidFill>
                <a:latin typeface="Arial" panose="020B0604020202020204" pitchFamily="34" charset="0"/>
                <a:cs typeface="Arial" panose="020B0604020202020204" pitchFamily="34" charset="0"/>
              </a:rPr>
              <a:t>bounding box regression </a:t>
            </a:r>
            <a:r>
              <a:rPr lang="en-US" sz="2000" dirty="0">
                <a:latin typeface="Arial" panose="020B0604020202020204" pitchFamily="34" charset="0"/>
                <a:cs typeface="Arial" panose="020B0604020202020204" pitchFamily="34" charset="0"/>
              </a:rPr>
              <a:t>are used to enhance classification accuracy up to 98%.</a:t>
            </a:r>
          </a:p>
          <a:p>
            <a:pPr marL="285750" indent="-28575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8102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2F8406C-9836-31C4-1E49-76BEBEC5B675}"/>
              </a:ext>
            </a:extLst>
          </p:cNvPr>
          <p:cNvSpPr>
            <a:spLocks noGrp="1"/>
          </p:cNvSpPr>
          <p:nvPr>
            <p:ph type="dt" sz="half" idx="10"/>
          </p:nvPr>
        </p:nvSpPr>
        <p:spPr/>
        <p:txBody>
          <a:bodyPr/>
          <a:lstStyle/>
          <a:p>
            <a:fld id="{8BBEBAC2-3BEB-4669-8CE5-AD952D1C9B4F}" type="datetime1">
              <a:rPr lang="en-IN" smtClean="0"/>
              <a:t>29-04-2025</a:t>
            </a:fld>
            <a:endParaRPr lang="en-IN"/>
          </a:p>
        </p:txBody>
      </p:sp>
      <p:sp>
        <p:nvSpPr>
          <p:cNvPr id="5" name="Footer Placeholder 4">
            <a:extLst>
              <a:ext uri="{FF2B5EF4-FFF2-40B4-BE49-F238E27FC236}">
                <a16:creationId xmlns:a16="http://schemas.microsoft.com/office/drawing/2014/main" id="{AA7BFC32-5FEC-3999-23F8-2C8AB7DD08FB}"/>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126C7845-51BC-7E6D-3DA2-2E121AA676CF}"/>
              </a:ext>
            </a:extLst>
          </p:cNvPr>
          <p:cNvSpPr>
            <a:spLocks noGrp="1"/>
          </p:cNvSpPr>
          <p:nvPr>
            <p:ph type="sldNum" sz="quarter" idx="12"/>
          </p:nvPr>
        </p:nvSpPr>
        <p:spPr/>
        <p:txBody>
          <a:bodyPr/>
          <a:lstStyle/>
          <a:p>
            <a:fld id="{A3972B19-0707-4BA0-BBBD-3AAEEE218156}" type="slidenum">
              <a:rPr lang="en-IN" smtClean="0"/>
              <a:t>3</a:t>
            </a:fld>
            <a:endParaRPr lang="en-IN"/>
          </a:p>
        </p:txBody>
      </p:sp>
      <p:sp>
        <p:nvSpPr>
          <p:cNvPr id="7" name="TextBox 6">
            <a:extLst>
              <a:ext uri="{FF2B5EF4-FFF2-40B4-BE49-F238E27FC236}">
                <a16:creationId xmlns:a16="http://schemas.microsoft.com/office/drawing/2014/main" id="{9E5132AD-31B5-2332-6B5D-E4D87F34851E}"/>
              </a:ext>
            </a:extLst>
          </p:cNvPr>
          <p:cNvSpPr txBox="1"/>
          <p:nvPr/>
        </p:nvSpPr>
        <p:spPr>
          <a:xfrm>
            <a:off x="998621" y="882316"/>
            <a:ext cx="5097379"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Introduction</a:t>
            </a:r>
          </a:p>
        </p:txBody>
      </p:sp>
      <p:sp>
        <p:nvSpPr>
          <p:cNvPr id="9" name="TextBox 8">
            <a:extLst>
              <a:ext uri="{FF2B5EF4-FFF2-40B4-BE49-F238E27FC236}">
                <a16:creationId xmlns:a16="http://schemas.microsoft.com/office/drawing/2014/main" id="{FAAB658E-F7F4-51A9-4C92-9C0C11ED3FE3}"/>
              </a:ext>
            </a:extLst>
          </p:cNvPr>
          <p:cNvSpPr txBox="1"/>
          <p:nvPr/>
        </p:nvSpPr>
        <p:spPr>
          <a:xfrm>
            <a:off x="1459831" y="1651757"/>
            <a:ext cx="10218822" cy="445583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Agriculture plays a important role in </a:t>
            </a:r>
            <a:r>
              <a:rPr lang="en-US" sz="2400" dirty="0">
                <a:solidFill>
                  <a:srgbClr val="FF0000"/>
                </a:solidFill>
                <a:latin typeface="Arial" panose="020B0604020202020204" pitchFamily="34" charset="0"/>
                <a:cs typeface="Arial" panose="020B0604020202020204" pitchFamily="34" charset="0"/>
              </a:rPr>
              <a:t>food security</a:t>
            </a:r>
            <a:r>
              <a:rPr lang="en-US" sz="2400" dirty="0">
                <a:latin typeface="Arial" panose="020B0604020202020204" pitchFamily="34" charset="0"/>
                <a:cs typeface="Arial" panose="020B0604020202020204" pitchFamily="34" charset="0"/>
              </a:rPr>
              <a:t>, the </a:t>
            </a:r>
            <a:r>
              <a:rPr lang="en-US" sz="2400" dirty="0">
                <a:solidFill>
                  <a:srgbClr val="FF0000"/>
                </a:solidFill>
                <a:latin typeface="Arial" panose="020B0604020202020204" pitchFamily="34" charset="0"/>
                <a:cs typeface="Arial" panose="020B0604020202020204" pitchFamily="34" charset="0"/>
              </a:rPr>
              <a:t>global economy </a:t>
            </a:r>
            <a:r>
              <a:rPr lang="en-US" sz="2400" dirty="0">
                <a:latin typeface="Arial" panose="020B0604020202020204" pitchFamily="34" charset="0"/>
                <a:cs typeface="Arial" panose="020B0604020202020204" pitchFamily="34" charset="0"/>
              </a:rPr>
              <a:t>and  faces multiple </a:t>
            </a:r>
            <a:r>
              <a:rPr lang="en-US" sz="2400" dirty="0">
                <a:solidFill>
                  <a:srgbClr val="FF0000"/>
                </a:solidFill>
                <a:latin typeface="Arial" panose="020B0604020202020204" pitchFamily="34" charset="0"/>
                <a:cs typeface="Arial" panose="020B0604020202020204" pitchFamily="34" charset="0"/>
              </a:rPr>
              <a:t>threats</a:t>
            </a:r>
            <a:r>
              <a:rPr lang="en-US" sz="2400" dirty="0">
                <a:latin typeface="Arial" panose="020B0604020202020204" pitchFamily="34" charset="0"/>
                <a:cs typeface="Arial" panose="020B0604020202020204" pitchFamily="34" charset="0"/>
              </a:rPr>
              <a:t>: pests, climate change, and diseases.</a:t>
            </a:r>
          </a:p>
          <a:p>
            <a:pPr marL="285750" indent="-28575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About </a:t>
            </a:r>
            <a:r>
              <a:rPr lang="en-US" sz="2400" dirty="0">
                <a:solidFill>
                  <a:srgbClr val="FF0000"/>
                </a:solidFill>
                <a:latin typeface="Arial" panose="020B0604020202020204" pitchFamily="34" charset="0"/>
                <a:cs typeface="Arial" panose="020B0604020202020204" pitchFamily="34" charset="0"/>
              </a:rPr>
              <a:t>30% </a:t>
            </a:r>
            <a:r>
              <a:rPr lang="en-US" sz="2400" dirty="0">
                <a:latin typeface="Arial" panose="020B0604020202020204" pitchFamily="34" charset="0"/>
                <a:cs typeface="Arial" panose="020B0604020202020204" pitchFamily="34" charset="0"/>
              </a:rPr>
              <a:t>of crops are </a:t>
            </a:r>
            <a:r>
              <a:rPr lang="en-US" sz="2400" dirty="0">
                <a:solidFill>
                  <a:srgbClr val="FF0000"/>
                </a:solidFill>
                <a:latin typeface="Arial" panose="020B0604020202020204" pitchFamily="34" charset="0"/>
                <a:cs typeface="Arial" panose="020B0604020202020204" pitchFamily="34" charset="0"/>
              </a:rPr>
              <a:t>lost</a:t>
            </a:r>
            <a:r>
              <a:rPr lang="en-US" sz="2400" dirty="0">
                <a:latin typeface="Arial" panose="020B0604020202020204" pitchFamily="34" charset="0"/>
                <a:cs typeface="Arial" panose="020B0604020202020204" pitchFamily="34" charset="0"/>
              </a:rPr>
              <a:t> due to plant diseases globally. So, early automated diagnosis reduces chemical use and improves yield.  </a:t>
            </a:r>
          </a:p>
          <a:p>
            <a:pPr marL="285750" indent="-28575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Deep learning and computer vision can identify subtle, early signs of diseases from leaf images.</a:t>
            </a:r>
          </a:p>
          <a:p>
            <a:pPr marL="285750" indent="-28575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Our method </a:t>
            </a:r>
            <a:r>
              <a:rPr lang="en-US" sz="2400" dirty="0">
                <a:solidFill>
                  <a:srgbClr val="FF0000"/>
                </a:solidFill>
                <a:latin typeface="Arial" panose="020B0604020202020204" pitchFamily="34" charset="0"/>
                <a:cs typeface="Arial" panose="020B0604020202020204" pitchFamily="34" charset="0"/>
              </a:rPr>
              <a:t>proposes</a:t>
            </a:r>
            <a:r>
              <a:rPr lang="en-US" sz="2400" dirty="0">
                <a:latin typeface="Arial" panose="020B0604020202020204" pitchFamily="34" charset="0"/>
                <a:cs typeface="Arial" panose="020B0604020202020204" pitchFamily="34" charset="0"/>
              </a:rPr>
              <a:t> a specialized model to focus on small disease regions for better diagnosis.</a:t>
            </a:r>
          </a:p>
        </p:txBody>
      </p:sp>
    </p:spTree>
    <p:extLst>
      <p:ext uri="{BB962C8B-B14F-4D97-AF65-F5344CB8AC3E}">
        <p14:creationId xmlns:p14="http://schemas.microsoft.com/office/powerpoint/2010/main" val="759711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8D842A9-BBA1-31BD-6261-41AE829F3A1E}"/>
              </a:ext>
            </a:extLst>
          </p:cNvPr>
          <p:cNvSpPr>
            <a:spLocks noGrp="1"/>
          </p:cNvSpPr>
          <p:nvPr>
            <p:ph type="dt" sz="half" idx="10"/>
          </p:nvPr>
        </p:nvSpPr>
        <p:spPr/>
        <p:txBody>
          <a:bodyPr/>
          <a:lstStyle/>
          <a:p>
            <a:fld id="{452C2A6E-A7DF-4B5E-A04C-048CBEC9A7EE}" type="datetime1">
              <a:rPr lang="en-IN" smtClean="0"/>
              <a:t>29-04-2025</a:t>
            </a:fld>
            <a:endParaRPr lang="en-IN"/>
          </a:p>
        </p:txBody>
      </p:sp>
      <p:sp>
        <p:nvSpPr>
          <p:cNvPr id="5" name="Footer Placeholder 4">
            <a:extLst>
              <a:ext uri="{FF2B5EF4-FFF2-40B4-BE49-F238E27FC236}">
                <a16:creationId xmlns:a16="http://schemas.microsoft.com/office/drawing/2014/main" id="{0E35AF7E-2147-840D-CD3A-F06C132D05AF}"/>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13D7071D-4C65-5873-71DC-2AEDDCA6F37D}"/>
              </a:ext>
            </a:extLst>
          </p:cNvPr>
          <p:cNvSpPr>
            <a:spLocks noGrp="1"/>
          </p:cNvSpPr>
          <p:nvPr>
            <p:ph type="sldNum" sz="quarter" idx="12"/>
          </p:nvPr>
        </p:nvSpPr>
        <p:spPr/>
        <p:txBody>
          <a:bodyPr/>
          <a:lstStyle/>
          <a:p>
            <a:fld id="{A3972B19-0707-4BA0-BBBD-3AAEEE218156}" type="slidenum">
              <a:rPr lang="en-IN" smtClean="0"/>
              <a:t>4</a:t>
            </a:fld>
            <a:endParaRPr lang="en-IN"/>
          </a:p>
        </p:txBody>
      </p:sp>
      <p:sp>
        <p:nvSpPr>
          <p:cNvPr id="7" name="TextBox 6">
            <a:extLst>
              <a:ext uri="{FF2B5EF4-FFF2-40B4-BE49-F238E27FC236}">
                <a16:creationId xmlns:a16="http://schemas.microsoft.com/office/drawing/2014/main" id="{E563C602-CD98-0BEC-C483-912B2F7ABB71}"/>
              </a:ext>
            </a:extLst>
          </p:cNvPr>
          <p:cNvSpPr txBox="1"/>
          <p:nvPr/>
        </p:nvSpPr>
        <p:spPr>
          <a:xfrm>
            <a:off x="838200" y="1091022"/>
            <a:ext cx="6130090"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Research Objectives</a:t>
            </a:r>
          </a:p>
        </p:txBody>
      </p:sp>
      <p:sp>
        <p:nvSpPr>
          <p:cNvPr id="9" name="TextBox 8">
            <a:extLst>
              <a:ext uri="{FF2B5EF4-FFF2-40B4-BE49-F238E27FC236}">
                <a16:creationId xmlns:a16="http://schemas.microsoft.com/office/drawing/2014/main" id="{217508DF-0DE4-6F8A-3C49-33BDF9ED63EE}"/>
              </a:ext>
            </a:extLst>
          </p:cNvPr>
          <p:cNvSpPr txBox="1"/>
          <p:nvPr/>
        </p:nvSpPr>
        <p:spPr>
          <a:xfrm>
            <a:off x="1239252" y="2157488"/>
            <a:ext cx="10258927" cy="334784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Develop a </a:t>
            </a:r>
            <a:r>
              <a:rPr lang="en-US" sz="2400" dirty="0">
                <a:solidFill>
                  <a:srgbClr val="FF0000"/>
                </a:solidFill>
                <a:latin typeface="Arial" panose="020B0604020202020204" pitchFamily="34" charset="0"/>
                <a:cs typeface="Arial" panose="020B0604020202020204" pitchFamily="34" charset="0"/>
              </a:rPr>
              <a:t>framework</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to detect plant diseases efficient and accurately.</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Focus only on </a:t>
            </a:r>
            <a:r>
              <a:rPr lang="en-US" sz="2400" dirty="0">
                <a:solidFill>
                  <a:srgbClr val="FF0000"/>
                </a:solidFill>
                <a:latin typeface="Arial" panose="020B0604020202020204" pitchFamily="34" charset="0"/>
                <a:cs typeface="Arial" panose="020B0604020202020204" pitchFamily="34" charset="0"/>
              </a:rPr>
              <a:t>infected</a:t>
            </a:r>
            <a:r>
              <a:rPr lang="en-US" sz="2400" dirty="0">
                <a:latin typeface="Arial" panose="020B0604020202020204" pitchFamily="34" charset="0"/>
                <a:cs typeface="Arial" panose="020B0604020202020204" pitchFamily="34" charset="0"/>
              </a:rPr>
              <a:t> regions using </a:t>
            </a:r>
            <a:r>
              <a:rPr lang="en-US" sz="2400" dirty="0">
                <a:solidFill>
                  <a:srgbClr val="FF0000"/>
                </a:solidFill>
                <a:latin typeface="Arial" panose="020B0604020202020204" pitchFamily="34" charset="0"/>
                <a:cs typeface="Arial" panose="020B0604020202020204" pitchFamily="34" charset="0"/>
              </a:rPr>
              <a:t>smart Region Proposals</a:t>
            </a:r>
            <a:r>
              <a:rPr lang="en-US" sz="24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Improve </a:t>
            </a:r>
            <a:r>
              <a:rPr lang="en-US" sz="2400" dirty="0">
                <a:solidFill>
                  <a:srgbClr val="FF0000"/>
                </a:solidFill>
                <a:latin typeface="Arial" panose="020B0604020202020204" pitchFamily="34" charset="0"/>
                <a:cs typeface="Arial" panose="020B0604020202020204" pitchFamily="34" charset="0"/>
              </a:rPr>
              <a:t>feature extraction </a:t>
            </a:r>
            <a:r>
              <a:rPr lang="en-US" sz="2400" dirty="0">
                <a:latin typeface="Arial" panose="020B0604020202020204" pitchFamily="34" charset="0"/>
                <a:cs typeface="Arial" panose="020B0604020202020204" pitchFamily="34" charset="0"/>
              </a:rPr>
              <a:t>using </a:t>
            </a:r>
            <a:r>
              <a:rPr lang="en-US" sz="2400" dirty="0">
                <a:solidFill>
                  <a:srgbClr val="FF0000"/>
                </a:solidFill>
                <a:latin typeface="Arial" panose="020B0604020202020204" pitchFamily="34" charset="0"/>
                <a:cs typeface="Arial" panose="020B0604020202020204" pitchFamily="34" charset="0"/>
              </a:rPr>
              <a:t>GLCM</a:t>
            </a:r>
            <a:r>
              <a:rPr lang="en-US" sz="2400" dirty="0">
                <a:latin typeface="Arial" panose="020B0604020202020204" pitchFamily="34" charset="0"/>
                <a:cs typeface="Arial" panose="020B0604020202020204" pitchFamily="34" charset="0"/>
              </a:rPr>
              <a:t> to capture fine texture details.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Prioritize </a:t>
            </a:r>
            <a:r>
              <a:rPr lang="en-US" sz="2400" dirty="0">
                <a:solidFill>
                  <a:srgbClr val="FF0000"/>
                </a:solidFill>
                <a:latin typeface="Arial" panose="020B0604020202020204" pitchFamily="34" charset="0"/>
                <a:cs typeface="Arial" panose="020B0604020202020204" pitchFamily="34" charset="0"/>
              </a:rPr>
              <a:t>infected</a:t>
            </a:r>
            <a:r>
              <a:rPr lang="en-US" sz="2400" dirty="0">
                <a:latin typeface="Arial" panose="020B0604020202020204" pitchFamily="34" charset="0"/>
                <a:cs typeface="Arial" panose="020B0604020202020204" pitchFamily="34" charset="0"/>
              </a:rPr>
              <a:t> areas using </a:t>
            </a:r>
            <a:r>
              <a:rPr lang="en-US" sz="2400" dirty="0">
                <a:solidFill>
                  <a:srgbClr val="FF0000"/>
                </a:solidFill>
                <a:latin typeface="Arial" panose="020B0604020202020204" pitchFamily="34" charset="0"/>
                <a:cs typeface="Arial" panose="020B0604020202020204" pitchFamily="34" charset="0"/>
              </a:rPr>
              <a:t>self-attention </a:t>
            </a:r>
            <a:r>
              <a:rPr lang="en-US" sz="2400" dirty="0">
                <a:latin typeface="Arial" panose="020B0604020202020204" pitchFamily="34" charset="0"/>
                <a:cs typeface="Arial" panose="020B0604020202020204" pitchFamily="34" charset="0"/>
              </a:rPr>
              <a:t>for accurate bounding boxes.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Use </a:t>
            </a:r>
            <a:r>
              <a:rPr lang="en-US" sz="2400" dirty="0">
                <a:solidFill>
                  <a:srgbClr val="FF0000"/>
                </a:solidFill>
                <a:latin typeface="Arial" panose="020B0604020202020204" pitchFamily="34" charset="0"/>
                <a:cs typeface="Arial" panose="020B0604020202020204" pitchFamily="34" charset="0"/>
              </a:rPr>
              <a:t>SVM</a:t>
            </a:r>
            <a:r>
              <a:rPr lang="en-US" sz="2400" dirty="0">
                <a:latin typeface="Arial" panose="020B0604020202020204" pitchFamily="34" charset="0"/>
                <a:cs typeface="Arial" panose="020B0604020202020204" pitchFamily="34" charset="0"/>
              </a:rPr>
              <a:t> for final classification to handle small and imbalanced data.</a:t>
            </a:r>
          </a:p>
        </p:txBody>
      </p:sp>
    </p:spTree>
    <p:extLst>
      <p:ext uri="{BB962C8B-B14F-4D97-AF65-F5344CB8AC3E}">
        <p14:creationId xmlns:p14="http://schemas.microsoft.com/office/powerpoint/2010/main" val="150333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FC11B9-CFF2-A26D-857E-BAF34998838E}"/>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D1717D63-145E-04D7-7B9F-18A94DF7FCDF}"/>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E2B630A3-9AFD-D1B9-4B35-26E52CB2CC58}"/>
              </a:ext>
            </a:extLst>
          </p:cNvPr>
          <p:cNvSpPr>
            <a:spLocks noGrp="1"/>
          </p:cNvSpPr>
          <p:nvPr>
            <p:ph type="sldNum" sz="quarter" idx="12"/>
          </p:nvPr>
        </p:nvSpPr>
        <p:spPr/>
        <p:txBody>
          <a:bodyPr/>
          <a:lstStyle/>
          <a:p>
            <a:fld id="{A3972B19-0707-4BA0-BBBD-3AAEEE218156}" type="slidenum">
              <a:rPr lang="en-IN" smtClean="0"/>
              <a:t>5</a:t>
            </a:fld>
            <a:endParaRPr lang="en-IN"/>
          </a:p>
        </p:txBody>
      </p:sp>
      <p:sp>
        <p:nvSpPr>
          <p:cNvPr id="9" name="TextBox 8">
            <a:extLst>
              <a:ext uri="{FF2B5EF4-FFF2-40B4-BE49-F238E27FC236}">
                <a16:creationId xmlns:a16="http://schemas.microsoft.com/office/drawing/2014/main" id="{D1DBB1B6-319C-9310-0996-D2C0BD92FBFA}"/>
              </a:ext>
            </a:extLst>
          </p:cNvPr>
          <p:cNvSpPr txBox="1"/>
          <p:nvPr/>
        </p:nvSpPr>
        <p:spPr>
          <a:xfrm>
            <a:off x="973555" y="899313"/>
            <a:ext cx="6130090"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Architecture of RPN-SA</a:t>
            </a:r>
          </a:p>
        </p:txBody>
      </p:sp>
      <p:pic>
        <p:nvPicPr>
          <p:cNvPr id="13" name="Picture 12">
            <a:extLst>
              <a:ext uri="{FF2B5EF4-FFF2-40B4-BE49-F238E27FC236}">
                <a16:creationId xmlns:a16="http://schemas.microsoft.com/office/drawing/2014/main" id="{A4E7E498-02DC-264F-ED39-D916F16ED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442" y="1668754"/>
            <a:ext cx="9908063" cy="4398838"/>
          </a:xfrm>
          <a:prstGeom prst="rect">
            <a:avLst/>
          </a:prstGeom>
        </p:spPr>
      </p:pic>
    </p:spTree>
    <p:extLst>
      <p:ext uri="{BB962C8B-B14F-4D97-AF65-F5344CB8AC3E}">
        <p14:creationId xmlns:p14="http://schemas.microsoft.com/office/powerpoint/2010/main" val="3026140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8DAE-B490-0DBB-8DDA-69993831B4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7048AE4-00E5-7948-CE1C-903417F82438}"/>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E2DEFA9-4282-13B9-3E52-702C402C6B2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8AF1179B-E357-82B5-DFD1-F6A3D9CB58DC}"/>
              </a:ext>
            </a:extLst>
          </p:cNvPr>
          <p:cNvSpPr>
            <a:spLocks noGrp="1"/>
          </p:cNvSpPr>
          <p:nvPr>
            <p:ph type="sldNum" sz="quarter" idx="12"/>
          </p:nvPr>
        </p:nvSpPr>
        <p:spPr/>
        <p:txBody>
          <a:bodyPr/>
          <a:lstStyle/>
          <a:p>
            <a:fld id="{A3972B19-0707-4BA0-BBBD-3AAEEE218156}" type="slidenum">
              <a:rPr lang="en-IN" smtClean="0"/>
              <a:t>6</a:t>
            </a:fld>
            <a:endParaRPr lang="en-IN"/>
          </a:p>
        </p:txBody>
      </p:sp>
      <p:sp>
        <p:nvSpPr>
          <p:cNvPr id="7" name="TextBox 6">
            <a:extLst>
              <a:ext uri="{FF2B5EF4-FFF2-40B4-BE49-F238E27FC236}">
                <a16:creationId xmlns:a16="http://schemas.microsoft.com/office/drawing/2014/main" id="{F10EE4EC-7E90-5A57-190F-EDCEF099B273}"/>
              </a:ext>
            </a:extLst>
          </p:cNvPr>
          <p:cNvSpPr txBox="1"/>
          <p:nvPr/>
        </p:nvSpPr>
        <p:spPr>
          <a:xfrm>
            <a:off x="973555" y="974557"/>
            <a:ext cx="6130090"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Proposed Methodology </a:t>
            </a:r>
          </a:p>
        </p:txBody>
      </p:sp>
      <p:sp>
        <p:nvSpPr>
          <p:cNvPr id="10" name="TextBox 9">
            <a:extLst>
              <a:ext uri="{FF2B5EF4-FFF2-40B4-BE49-F238E27FC236}">
                <a16:creationId xmlns:a16="http://schemas.microsoft.com/office/drawing/2014/main" id="{E41B5AC0-B263-12AB-0135-9A2E12E47956}"/>
              </a:ext>
            </a:extLst>
          </p:cNvPr>
          <p:cNvSpPr txBox="1"/>
          <p:nvPr/>
        </p:nvSpPr>
        <p:spPr>
          <a:xfrm>
            <a:off x="1802330" y="2039379"/>
            <a:ext cx="8587339" cy="3671005"/>
          </a:xfrm>
          <a:prstGeom prst="rect">
            <a:avLst/>
          </a:prstGeom>
          <a:noFill/>
        </p:spPr>
        <p:txBody>
          <a:bodyPr wrap="square" rtlCol="0">
            <a:spAutoFit/>
          </a:bodyPr>
          <a:lstStyle/>
          <a:p>
            <a:pPr marL="457200" indent="-45720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Image Preprocessing &amp; Augmentation</a:t>
            </a:r>
          </a:p>
          <a:p>
            <a:pPr marL="457200" indent="-45720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GLCM Feature Extraction</a:t>
            </a:r>
          </a:p>
          <a:p>
            <a:pPr marL="457200" indent="-45720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Region Proposal Network with Self-Attention</a:t>
            </a:r>
          </a:p>
          <a:p>
            <a:pPr marL="457200" indent="-45720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Bounding Box Regression</a:t>
            </a:r>
          </a:p>
          <a:p>
            <a:pPr marL="457200" indent="-457200" algn="just">
              <a:lnSpc>
                <a:spcPct val="200000"/>
              </a:lnSpc>
              <a:buFont typeface="Arial" panose="020B0604020202020204" pitchFamily="34" charset="0"/>
              <a:buChar char="•"/>
            </a:pPr>
            <a:r>
              <a:rPr lang="en-US" sz="2400" dirty="0">
                <a:latin typeface="Arial" panose="020B0604020202020204" pitchFamily="34" charset="0"/>
                <a:cs typeface="Arial" panose="020B0604020202020204" pitchFamily="34" charset="0"/>
              </a:rPr>
              <a:t>ROI Pooling &amp; Classification</a:t>
            </a:r>
          </a:p>
        </p:txBody>
      </p:sp>
    </p:spTree>
    <p:extLst>
      <p:ext uri="{BB962C8B-B14F-4D97-AF65-F5344CB8AC3E}">
        <p14:creationId xmlns:p14="http://schemas.microsoft.com/office/powerpoint/2010/main" val="4117344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8DAE-B490-0DBB-8DDA-69993831B4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7048AE4-00E5-7948-CE1C-903417F82438}"/>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E2DEFA9-4282-13B9-3E52-702C402C6B2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8AF1179B-E357-82B5-DFD1-F6A3D9CB58DC}"/>
              </a:ext>
            </a:extLst>
          </p:cNvPr>
          <p:cNvSpPr>
            <a:spLocks noGrp="1"/>
          </p:cNvSpPr>
          <p:nvPr>
            <p:ph type="sldNum" sz="quarter" idx="12"/>
          </p:nvPr>
        </p:nvSpPr>
        <p:spPr/>
        <p:txBody>
          <a:bodyPr/>
          <a:lstStyle/>
          <a:p>
            <a:fld id="{A3972B19-0707-4BA0-BBBD-3AAEEE218156}" type="slidenum">
              <a:rPr lang="en-IN" smtClean="0"/>
              <a:t>7</a:t>
            </a:fld>
            <a:endParaRPr lang="en-IN"/>
          </a:p>
        </p:txBody>
      </p:sp>
      <p:sp>
        <p:nvSpPr>
          <p:cNvPr id="7" name="TextBox 6">
            <a:extLst>
              <a:ext uri="{FF2B5EF4-FFF2-40B4-BE49-F238E27FC236}">
                <a16:creationId xmlns:a16="http://schemas.microsoft.com/office/drawing/2014/main" id="{F10EE4EC-7E90-5A57-190F-EDCEF099B273}"/>
              </a:ext>
            </a:extLst>
          </p:cNvPr>
          <p:cNvSpPr txBox="1"/>
          <p:nvPr/>
        </p:nvSpPr>
        <p:spPr>
          <a:xfrm>
            <a:off x="390524" y="1006641"/>
            <a:ext cx="11410951"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Preprocessing &amp; Augmentation</a:t>
            </a:r>
          </a:p>
        </p:txBody>
      </p:sp>
      <p:sp>
        <p:nvSpPr>
          <p:cNvPr id="8" name="TextBox 7">
            <a:extLst>
              <a:ext uri="{FF2B5EF4-FFF2-40B4-BE49-F238E27FC236}">
                <a16:creationId xmlns:a16="http://schemas.microsoft.com/office/drawing/2014/main" id="{FE68DDA4-F528-0881-A23E-672E32CC14C2}"/>
              </a:ext>
            </a:extLst>
          </p:cNvPr>
          <p:cNvSpPr txBox="1"/>
          <p:nvPr/>
        </p:nvSpPr>
        <p:spPr>
          <a:xfrm>
            <a:off x="1721852" y="2165625"/>
            <a:ext cx="8705516" cy="445583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Resizing</a:t>
            </a:r>
            <a:r>
              <a:rPr lang="en-US" sz="2400" dirty="0">
                <a:latin typeface="Arial" panose="020B0604020202020204" pitchFamily="34" charset="0"/>
                <a:cs typeface="Arial" panose="020B0604020202020204" pitchFamily="34" charset="0"/>
              </a:rPr>
              <a:t> : 512×512</a:t>
            </a:r>
            <a:r>
              <a:rPr lang="en-US" sz="2400" b="1" dirty="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Normalization</a:t>
            </a:r>
            <a:r>
              <a:rPr lang="en-US" sz="2400" dirty="0">
                <a:latin typeface="Arial" panose="020B0604020202020204" pitchFamily="34" charset="0"/>
                <a:cs typeface="Arial" panose="020B0604020202020204" pitchFamily="34" charset="0"/>
              </a:rPr>
              <a:t>: Pixel values [0,1] range</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Rotate</a:t>
            </a:r>
            <a:r>
              <a:rPr lang="en-US" sz="2400" dirty="0">
                <a:latin typeface="Arial" panose="020B0604020202020204" pitchFamily="34" charset="0"/>
                <a:cs typeface="Arial" panose="020B0604020202020204" pitchFamily="34" charset="0"/>
              </a:rPr>
              <a:t>: ±10° (p=0.5)</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Shift</a:t>
            </a:r>
            <a:r>
              <a:rPr lang="en-US" sz="2400" dirty="0">
                <a:latin typeface="Arial" panose="020B0604020202020204" pitchFamily="34" charset="0"/>
                <a:cs typeface="Arial" panose="020B0604020202020204" pitchFamily="34" charset="0"/>
              </a:rPr>
              <a:t>: Horizontal/vertical shift ±10% (p=0.5)</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Horizontal Flip</a:t>
            </a:r>
            <a:r>
              <a:rPr lang="en-US" sz="2400" dirty="0">
                <a:latin typeface="Arial" panose="020B0604020202020204" pitchFamily="34" charset="0"/>
                <a:cs typeface="Arial" panose="020B0604020202020204" pitchFamily="34" charset="0"/>
              </a:rPr>
              <a:t>: 50% chance</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Helps reduce </a:t>
            </a:r>
            <a:r>
              <a:rPr lang="en-US" sz="2400" dirty="0">
                <a:solidFill>
                  <a:srgbClr val="FF0000"/>
                </a:solidFill>
                <a:latin typeface="Arial" panose="020B0604020202020204" pitchFamily="34" charset="0"/>
                <a:cs typeface="Arial" panose="020B0604020202020204" pitchFamily="34" charset="0"/>
              </a:rPr>
              <a:t>overfitting</a:t>
            </a:r>
            <a:r>
              <a:rPr lang="en-US" sz="2400" dirty="0">
                <a:latin typeface="Arial" panose="020B0604020202020204" pitchFamily="34" charset="0"/>
                <a:cs typeface="Arial" panose="020B0604020202020204" pitchFamily="34" charset="0"/>
              </a:rPr>
              <a:t>, especially with limited data.</a:t>
            </a:r>
          </a:p>
          <a:p>
            <a:pPr marL="342900" indent="-342900" algn="just">
              <a:lnSpc>
                <a:spcPct val="150000"/>
              </a:lnSpc>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lvl="2" algn="just">
              <a:lnSpc>
                <a:spcPct val="150000"/>
              </a:lnSpc>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5823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8DAE-B490-0DBB-8DDA-69993831B4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7048AE4-00E5-7948-CE1C-903417F82438}"/>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E2DEFA9-4282-13B9-3E52-702C402C6B2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8AF1179B-E357-82B5-DFD1-F6A3D9CB58DC}"/>
              </a:ext>
            </a:extLst>
          </p:cNvPr>
          <p:cNvSpPr>
            <a:spLocks noGrp="1"/>
          </p:cNvSpPr>
          <p:nvPr>
            <p:ph type="sldNum" sz="quarter" idx="12"/>
          </p:nvPr>
        </p:nvSpPr>
        <p:spPr/>
        <p:txBody>
          <a:bodyPr/>
          <a:lstStyle/>
          <a:p>
            <a:fld id="{A3972B19-0707-4BA0-BBBD-3AAEEE218156}" type="slidenum">
              <a:rPr lang="en-IN" smtClean="0"/>
              <a:t>8</a:t>
            </a:fld>
            <a:endParaRPr lang="en-IN"/>
          </a:p>
        </p:txBody>
      </p:sp>
      <p:sp>
        <p:nvSpPr>
          <p:cNvPr id="7" name="TextBox 6">
            <a:extLst>
              <a:ext uri="{FF2B5EF4-FFF2-40B4-BE49-F238E27FC236}">
                <a16:creationId xmlns:a16="http://schemas.microsoft.com/office/drawing/2014/main" id="{F10EE4EC-7E90-5A57-190F-EDCEF099B273}"/>
              </a:ext>
            </a:extLst>
          </p:cNvPr>
          <p:cNvSpPr txBox="1"/>
          <p:nvPr/>
        </p:nvSpPr>
        <p:spPr>
          <a:xfrm>
            <a:off x="390524" y="1006641"/>
            <a:ext cx="11410951" cy="1446550"/>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GLCM Feature Extraction</a:t>
            </a:r>
          </a:p>
          <a:p>
            <a:endParaRPr lang="en-US" sz="44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247367-21D6-FF1A-BF78-AABCDE5660BA}"/>
              </a:ext>
            </a:extLst>
          </p:cNvPr>
          <p:cNvSpPr txBox="1"/>
          <p:nvPr/>
        </p:nvSpPr>
        <p:spPr>
          <a:xfrm>
            <a:off x="1269330" y="1900515"/>
            <a:ext cx="9653337" cy="445583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GLCM: Gray-Level Co-occurrence Matrix captures </a:t>
            </a:r>
            <a:r>
              <a:rPr lang="en-US" sz="2400" dirty="0">
                <a:solidFill>
                  <a:srgbClr val="FF0000"/>
                </a:solidFill>
                <a:latin typeface="Arial" panose="020B0604020202020204" pitchFamily="34" charset="0"/>
                <a:cs typeface="Arial" panose="020B0604020202020204" pitchFamily="34" charset="0"/>
              </a:rPr>
              <a:t>pixel relationships.</a:t>
            </a:r>
          </a:p>
          <a:p>
            <a:pPr marL="342900" indent="-342900" algn="just">
              <a:lnSpc>
                <a:spcPct val="150000"/>
              </a:lnSpc>
              <a:buFont typeface="Arial" panose="020B0604020202020204" pitchFamily="34" charset="0"/>
              <a:buChar char="•"/>
            </a:pPr>
            <a:r>
              <a:rPr lang="en-US" sz="2400" dirty="0">
                <a:solidFill>
                  <a:srgbClr val="FF0000"/>
                </a:solidFill>
                <a:latin typeface="Arial" panose="020B0604020202020204" pitchFamily="34" charset="0"/>
                <a:cs typeface="Arial" panose="020B0604020202020204" pitchFamily="34" charset="0"/>
              </a:rPr>
              <a:t>Extracts texture </a:t>
            </a:r>
            <a:r>
              <a:rPr lang="en-US" sz="2400" dirty="0">
                <a:latin typeface="Arial" panose="020B0604020202020204" pitchFamily="34" charset="0"/>
                <a:cs typeface="Arial" panose="020B0604020202020204" pitchFamily="34" charset="0"/>
              </a:rPr>
              <a:t>descriptors like </a:t>
            </a:r>
            <a:r>
              <a:rPr lang="en-US" sz="2400" b="1" dirty="0">
                <a:latin typeface="Arial" panose="020B0604020202020204" pitchFamily="34" charset="0"/>
                <a:cs typeface="Arial" panose="020B0604020202020204" pitchFamily="34" charset="0"/>
              </a:rPr>
              <a:t>contrast, correlation, and homogeneity.</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Enhances </a:t>
            </a:r>
            <a:r>
              <a:rPr lang="en-US" sz="2400" dirty="0">
                <a:solidFill>
                  <a:srgbClr val="FF0000"/>
                </a:solidFill>
                <a:latin typeface="Arial" panose="020B0604020202020204" pitchFamily="34" charset="0"/>
                <a:cs typeface="Arial" panose="020B0604020202020204" pitchFamily="34" charset="0"/>
              </a:rPr>
              <a:t>edge</a:t>
            </a:r>
            <a:r>
              <a:rPr lang="en-US" sz="2400" dirty="0">
                <a:latin typeface="Arial" panose="020B0604020202020204" pitchFamily="34" charset="0"/>
                <a:cs typeface="Arial" panose="020B0604020202020204" pitchFamily="34" charset="0"/>
              </a:rPr>
              <a:t> and </a:t>
            </a:r>
            <a:r>
              <a:rPr lang="en-US" sz="2400" dirty="0">
                <a:solidFill>
                  <a:srgbClr val="FF0000"/>
                </a:solidFill>
                <a:latin typeface="Arial" panose="020B0604020202020204" pitchFamily="34" charset="0"/>
                <a:cs typeface="Arial" panose="020B0604020202020204" pitchFamily="34" charset="0"/>
              </a:rPr>
              <a:t>surface patterns </a:t>
            </a:r>
            <a:r>
              <a:rPr lang="en-US" sz="2400" dirty="0">
                <a:latin typeface="Arial" panose="020B0604020202020204" pitchFamily="34" charset="0"/>
                <a:cs typeface="Arial" panose="020B0604020202020204" pitchFamily="34" charset="0"/>
              </a:rPr>
              <a:t>of diseased regions.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GLCM features help detect </a:t>
            </a:r>
            <a:r>
              <a:rPr lang="en-US" sz="2400" dirty="0">
                <a:solidFill>
                  <a:srgbClr val="FF0000"/>
                </a:solidFill>
                <a:latin typeface="Arial" panose="020B0604020202020204" pitchFamily="34" charset="0"/>
                <a:cs typeface="Arial" panose="020B0604020202020204" pitchFamily="34" charset="0"/>
              </a:rPr>
              <a:t>minute</a:t>
            </a:r>
            <a:r>
              <a:rPr lang="en-US" sz="2400" dirty="0">
                <a:latin typeface="Arial" panose="020B0604020202020204" pitchFamily="34" charset="0"/>
                <a:cs typeface="Arial" panose="020B0604020202020204" pitchFamily="34" charset="0"/>
              </a:rPr>
              <a:t> early-stage symptoms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Output, then feature maps </a:t>
            </a:r>
            <a:r>
              <a:rPr lang="en-US" sz="2400" dirty="0">
                <a:solidFill>
                  <a:srgbClr val="FF0000"/>
                </a:solidFill>
                <a:latin typeface="Arial" panose="020B0604020202020204" pitchFamily="34" charset="0"/>
                <a:cs typeface="Arial" panose="020B0604020202020204" pitchFamily="34" charset="0"/>
              </a:rPr>
              <a:t>passed</a:t>
            </a:r>
            <a:r>
              <a:rPr lang="en-US" sz="2400" dirty="0">
                <a:latin typeface="Arial" panose="020B0604020202020204" pitchFamily="34" charset="0"/>
                <a:cs typeface="Arial" panose="020B0604020202020204" pitchFamily="34" charset="0"/>
              </a:rPr>
              <a:t> to the classification stages.</a:t>
            </a:r>
          </a:p>
          <a:p>
            <a:pPr marL="342900" indent="-342900" algn="just">
              <a:lnSpc>
                <a:spcPct val="150000"/>
              </a:lnSpc>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2092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8DAE-B490-0DBB-8DDA-69993831B4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7048AE4-00E5-7948-CE1C-903417F82438}"/>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E2DEFA9-4282-13B9-3E52-702C402C6B2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8AF1179B-E357-82B5-DFD1-F6A3D9CB58DC}"/>
              </a:ext>
            </a:extLst>
          </p:cNvPr>
          <p:cNvSpPr>
            <a:spLocks noGrp="1"/>
          </p:cNvSpPr>
          <p:nvPr>
            <p:ph type="sldNum" sz="quarter" idx="12"/>
          </p:nvPr>
        </p:nvSpPr>
        <p:spPr/>
        <p:txBody>
          <a:bodyPr/>
          <a:lstStyle/>
          <a:p>
            <a:fld id="{A3972B19-0707-4BA0-BBBD-3AAEEE218156}" type="slidenum">
              <a:rPr lang="en-IN" smtClean="0"/>
              <a:t>9</a:t>
            </a:fld>
            <a:endParaRPr lang="en-IN"/>
          </a:p>
        </p:txBody>
      </p:sp>
      <p:sp>
        <p:nvSpPr>
          <p:cNvPr id="7" name="TextBox 6">
            <a:extLst>
              <a:ext uri="{FF2B5EF4-FFF2-40B4-BE49-F238E27FC236}">
                <a16:creationId xmlns:a16="http://schemas.microsoft.com/office/drawing/2014/main" id="{F10EE4EC-7E90-5A57-190F-EDCEF099B273}"/>
              </a:ext>
            </a:extLst>
          </p:cNvPr>
          <p:cNvSpPr txBox="1"/>
          <p:nvPr/>
        </p:nvSpPr>
        <p:spPr>
          <a:xfrm>
            <a:off x="951998" y="991852"/>
            <a:ext cx="6988845"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RPN with Self-Attention</a:t>
            </a:r>
          </a:p>
        </p:txBody>
      </p:sp>
      <p:sp>
        <p:nvSpPr>
          <p:cNvPr id="3" name="TextBox 2">
            <a:extLst>
              <a:ext uri="{FF2B5EF4-FFF2-40B4-BE49-F238E27FC236}">
                <a16:creationId xmlns:a16="http://schemas.microsoft.com/office/drawing/2014/main" id="{F2247367-21D6-FF1A-BF78-AABCDE5660BA}"/>
              </a:ext>
            </a:extLst>
          </p:cNvPr>
          <p:cNvSpPr txBox="1"/>
          <p:nvPr/>
        </p:nvSpPr>
        <p:spPr>
          <a:xfrm>
            <a:off x="1479883" y="2069114"/>
            <a:ext cx="9653337" cy="334784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RPN </a:t>
            </a:r>
            <a:r>
              <a:rPr lang="en-US" sz="2400" dirty="0">
                <a:solidFill>
                  <a:srgbClr val="FF0000"/>
                </a:solidFill>
                <a:latin typeface="Arial" panose="020B0604020202020204" pitchFamily="34" charset="0"/>
                <a:cs typeface="Arial" panose="020B0604020202020204" pitchFamily="34" charset="0"/>
              </a:rPr>
              <a:t>slides</a:t>
            </a:r>
            <a:r>
              <a:rPr lang="en-US" sz="2400" dirty="0">
                <a:latin typeface="Arial" panose="020B0604020202020204" pitchFamily="34" charset="0"/>
                <a:cs typeface="Arial" panose="020B0604020202020204" pitchFamily="34" charset="0"/>
              </a:rPr>
              <a:t> over feature maps to generate </a:t>
            </a:r>
            <a:r>
              <a:rPr lang="en-US" sz="2400" dirty="0">
                <a:solidFill>
                  <a:srgbClr val="FF0000"/>
                </a:solidFill>
                <a:latin typeface="Arial" panose="020B0604020202020204" pitchFamily="34" charset="0"/>
                <a:cs typeface="Arial" panose="020B0604020202020204" pitchFamily="34" charset="0"/>
              </a:rPr>
              <a:t>anchor boxes</a:t>
            </a:r>
            <a:r>
              <a:rPr lang="en-US" sz="24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Self-attention </a:t>
            </a:r>
            <a:r>
              <a:rPr lang="en-US" sz="2400" dirty="0">
                <a:solidFill>
                  <a:srgbClr val="FF0000"/>
                </a:solidFill>
                <a:latin typeface="Arial" panose="020B0604020202020204" pitchFamily="34" charset="0"/>
                <a:cs typeface="Arial" panose="020B0604020202020204" pitchFamily="34" charset="0"/>
              </a:rPr>
              <a:t>highlights</a:t>
            </a:r>
            <a:r>
              <a:rPr lang="en-US" sz="2400" dirty="0">
                <a:latin typeface="Arial" panose="020B0604020202020204" pitchFamily="34" charset="0"/>
                <a:cs typeface="Arial" panose="020B0604020202020204" pitchFamily="34" charset="0"/>
              </a:rPr>
              <a:t> major infected areas and </a:t>
            </a:r>
            <a:r>
              <a:rPr lang="en-US" sz="2400" dirty="0">
                <a:solidFill>
                  <a:srgbClr val="FF0000"/>
                </a:solidFill>
                <a:latin typeface="Arial" panose="020B0604020202020204" pitchFamily="34" charset="0"/>
                <a:cs typeface="Arial" panose="020B0604020202020204" pitchFamily="34" charset="0"/>
              </a:rPr>
              <a:t>ignore</a:t>
            </a:r>
            <a:r>
              <a:rPr lang="en-US" sz="2400" dirty="0">
                <a:latin typeface="Arial" panose="020B0604020202020204" pitchFamily="34" charset="0"/>
                <a:cs typeface="Arial" panose="020B0604020202020204" pitchFamily="34" charset="0"/>
              </a:rPr>
              <a:t> background.</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Compares</a:t>
            </a:r>
            <a:r>
              <a:rPr lang="en-US" sz="2400" dirty="0">
                <a:latin typeface="Arial" panose="020B0604020202020204" pitchFamily="34" charset="0"/>
                <a:cs typeface="Arial" panose="020B0604020202020204" pitchFamily="34" charset="0"/>
              </a:rPr>
              <a:t> spatial features to </a:t>
            </a:r>
            <a:r>
              <a:rPr lang="en-US" sz="2400" dirty="0">
                <a:solidFill>
                  <a:srgbClr val="FF0000"/>
                </a:solidFill>
                <a:latin typeface="Arial" panose="020B0604020202020204" pitchFamily="34" charset="0"/>
                <a:cs typeface="Arial" panose="020B0604020202020204" pitchFamily="34" charset="0"/>
              </a:rPr>
              <a:t>identify</a:t>
            </a:r>
            <a:r>
              <a:rPr lang="en-US" sz="2400" dirty="0">
                <a:latin typeface="Arial" panose="020B0604020202020204" pitchFamily="34" charset="0"/>
                <a:cs typeface="Arial" panose="020B0604020202020204" pitchFamily="34" charset="0"/>
              </a:rPr>
              <a:t> disease-specific patterns.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Makes the system efficient by reducing irrelevant region checks.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Outputs a ranked set of candidate disease regions.</a:t>
            </a:r>
          </a:p>
        </p:txBody>
      </p:sp>
    </p:spTree>
    <p:extLst>
      <p:ext uri="{BB962C8B-B14F-4D97-AF65-F5344CB8AC3E}">
        <p14:creationId xmlns:p14="http://schemas.microsoft.com/office/powerpoint/2010/main" val="4152405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8DAE-B490-0DBB-8DDA-69993831B4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7048AE4-00E5-7948-CE1C-903417F82438}"/>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E2DEFA9-4282-13B9-3E52-702C402C6B2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8AF1179B-E357-82B5-DFD1-F6A3D9CB58DC}"/>
              </a:ext>
            </a:extLst>
          </p:cNvPr>
          <p:cNvSpPr>
            <a:spLocks noGrp="1"/>
          </p:cNvSpPr>
          <p:nvPr>
            <p:ph type="sldNum" sz="quarter" idx="12"/>
          </p:nvPr>
        </p:nvSpPr>
        <p:spPr/>
        <p:txBody>
          <a:bodyPr/>
          <a:lstStyle/>
          <a:p>
            <a:fld id="{A3972B19-0707-4BA0-BBBD-3AAEEE218156}" type="slidenum">
              <a:rPr lang="en-IN" smtClean="0"/>
              <a:t>10</a:t>
            </a:fld>
            <a:endParaRPr lang="en-IN"/>
          </a:p>
        </p:txBody>
      </p:sp>
      <p:sp>
        <p:nvSpPr>
          <p:cNvPr id="7" name="TextBox 6">
            <a:extLst>
              <a:ext uri="{FF2B5EF4-FFF2-40B4-BE49-F238E27FC236}">
                <a16:creationId xmlns:a16="http://schemas.microsoft.com/office/drawing/2014/main" id="{F10EE4EC-7E90-5A57-190F-EDCEF099B273}"/>
              </a:ext>
            </a:extLst>
          </p:cNvPr>
          <p:cNvSpPr txBox="1"/>
          <p:nvPr/>
        </p:nvSpPr>
        <p:spPr>
          <a:xfrm>
            <a:off x="951998" y="991852"/>
            <a:ext cx="6988845"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Bounding Box Regression</a:t>
            </a:r>
          </a:p>
        </p:txBody>
      </p:sp>
      <p:sp>
        <p:nvSpPr>
          <p:cNvPr id="3" name="TextBox 2">
            <a:extLst>
              <a:ext uri="{FF2B5EF4-FFF2-40B4-BE49-F238E27FC236}">
                <a16:creationId xmlns:a16="http://schemas.microsoft.com/office/drawing/2014/main" id="{F2247367-21D6-FF1A-BF78-AABCDE5660BA}"/>
              </a:ext>
            </a:extLst>
          </p:cNvPr>
          <p:cNvSpPr txBox="1"/>
          <p:nvPr/>
        </p:nvSpPr>
        <p:spPr>
          <a:xfrm>
            <a:off x="1447799" y="2357872"/>
            <a:ext cx="9653337" cy="279384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Modifies </a:t>
            </a:r>
            <a:r>
              <a:rPr lang="en-US" sz="2400" dirty="0">
                <a:solidFill>
                  <a:srgbClr val="FF0000"/>
                </a:solidFill>
                <a:latin typeface="Arial" panose="020B0604020202020204" pitchFamily="34" charset="0"/>
                <a:cs typeface="Arial" panose="020B0604020202020204" pitchFamily="34" charset="0"/>
              </a:rPr>
              <a:t>bounding box coordinates </a:t>
            </a:r>
            <a:r>
              <a:rPr lang="en-US" sz="2400" dirty="0">
                <a:latin typeface="Arial" panose="020B0604020202020204" pitchFamily="34" charset="0"/>
                <a:cs typeface="Arial" panose="020B0604020202020204" pitchFamily="34" charset="0"/>
              </a:rPr>
              <a:t>around disease areas.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Reduces overlap and improves tightness of detection boxes.</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Optimizes</a:t>
            </a:r>
            <a:r>
              <a:rPr lang="en-US" sz="2400" dirty="0">
                <a:latin typeface="Arial" panose="020B0604020202020204" pitchFamily="34" charset="0"/>
                <a:cs typeface="Arial" panose="020B0604020202020204" pitchFamily="34" charset="0"/>
              </a:rPr>
              <a:t> region </a:t>
            </a:r>
            <a:r>
              <a:rPr lang="en-US" sz="2400" dirty="0">
                <a:solidFill>
                  <a:srgbClr val="FF0000"/>
                </a:solidFill>
                <a:latin typeface="Arial" panose="020B0604020202020204" pitchFamily="34" charset="0"/>
                <a:cs typeface="Arial" panose="020B0604020202020204" pitchFamily="34" charset="0"/>
              </a:rPr>
              <a:t>size</a:t>
            </a: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scale</a:t>
            </a:r>
            <a:r>
              <a:rPr lang="en-US" sz="2400" dirty="0">
                <a:latin typeface="Arial" panose="020B0604020202020204" pitchFamily="34" charset="0"/>
                <a:cs typeface="Arial" panose="020B0604020202020204" pitchFamily="34" charset="0"/>
              </a:rPr>
              <a:t>, and </a:t>
            </a:r>
            <a:r>
              <a:rPr lang="en-US" sz="2400" dirty="0">
                <a:solidFill>
                  <a:srgbClr val="FF0000"/>
                </a:solidFill>
                <a:latin typeface="Arial" panose="020B0604020202020204" pitchFamily="34" charset="0"/>
                <a:cs typeface="Arial" panose="020B0604020202020204" pitchFamily="34" charset="0"/>
              </a:rPr>
              <a:t>location</a:t>
            </a:r>
            <a:r>
              <a:rPr lang="en-US" sz="2400" dirty="0">
                <a:latin typeface="Arial" panose="020B0604020202020204" pitchFamily="34" charset="0"/>
                <a:cs typeface="Arial" panose="020B0604020202020204" pitchFamily="34" charset="0"/>
              </a:rPr>
              <a:t> for accuracy.</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Works in </a:t>
            </a:r>
            <a:r>
              <a:rPr lang="en-US" sz="2400" dirty="0">
                <a:solidFill>
                  <a:srgbClr val="FF0000"/>
                </a:solidFill>
                <a:latin typeface="Arial" panose="020B0604020202020204" pitchFamily="34" charset="0"/>
                <a:cs typeface="Arial" panose="020B0604020202020204" pitchFamily="34" charset="0"/>
              </a:rPr>
              <a:t>cycle</a:t>
            </a:r>
            <a:r>
              <a:rPr lang="en-US" sz="2400" dirty="0">
                <a:latin typeface="Arial" panose="020B0604020202020204" pitchFamily="34" charset="0"/>
                <a:cs typeface="Arial" panose="020B0604020202020204" pitchFamily="34" charset="0"/>
              </a:rPr>
              <a:t> with self-attention to enhance </a:t>
            </a:r>
            <a:r>
              <a:rPr lang="en-US" sz="2400" dirty="0">
                <a:solidFill>
                  <a:srgbClr val="FF0000"/>
                </a:solidFill>
                <a:latin typeface="Arial" panose="020B0604020202020204" pitchFamily="34" charset="0"/>
                <a:cs typeface="Arial" panose="020B0604020202020204" pitchFamily="34" charset="0"/>
              </a:rPr>
              <a:t>visual focus</a:t>
            </a:r>
            <a:r>
              <a:rPr lang="en-US" sz="24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Ensures </a:t>
            </a:r>
            <a:r>
              <a:rPr lang="en-US" sz="2400" dirty="0">
                <a:solidFill>
                  <a:srgbClr val="FF0000"/>
                </a:solidFill>
                <a:latin typeface="Arial" panose="020B0604020202020204" pitchFamily="34" charset="0"/>
                <a:cs typeface="Arial" panose="020B0604020202020204" pitchFamily="34" charset="0"/>
              </a:rPr>
              <a:t>minimal</a:t>
            </a:r>
            <a:r>
              <a:rPr lang="en-US" sz="2400" dirty="0">
                <a:latin typeface="Arial" panose="020B0604020202020204" pitchFamily="34" charset="0"/>
                <a:cs typeface="Arial" panose="020B0604020202020204" pitchFamily="34" charset="0"/>
              </a:rPr>
              <a:t> false positives around leaf veins or background.</a:t>
            </a:r>
          </a:p>
        </p:txBody>
      </p:sp>
    </p:spTree>
    <p:extLst>
      <p:ext uri="{BB962C8B-B14F-4D97-AF65-F5344CB8AC3E}">
        <p14:creationId xmlns:p14="http://schemas.microsoft.com/office/powerpoint/2010/main" val="2957884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8DAE-B490-0DBB-8DDA-69993831B4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7048AE4-00E5-7948-CE1C-903417F82438}"/>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E2DEFA9-4282-13B9-3E52-702C402C6B2E}"/>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8AF1179B-E357-82B5-DFD1-F6A3D9CB58DC}"/>
              </a:ext>
            </a:extLst>
          </p:cNvPr>
          <p:cNvSpPr>
            <a:spLocks noGrp="1"/>
          </p:cNvSpPr>
          <p:nvPr>
            <p:ph type="sldNum" sz="quarter" idx="12"/>
          </p:nvPr>
        </p:nvSpPr>
        <p:spPr/>
        <p:txBody>
          <a:bodyPr/>
          <a:lstStyle/>
          <a:p>
            <a:fld id="{A3972B19-0707-4BA0-BBBD-3AAEEE218156}" type="slidenum">
              <a:rPr lang="en-IN" smtClean="0"/>
              <a:t>11</a:t>
            </a:fld>
            <a:endParaRPr lang="en-IN"/>
          </a:p>
        </p:txBody>
      </p:sp>
      <p:sp>
        <p:nvSpPr>
          <p:cNvPr id="7" name="TextBox 6">
            <a:extLst>
              <a:ext uri="{FF2B5EF4-FFF2-40B4-BE49-F238E27FC236}">
                <a16:creationId xmlns:a16="http://schemas.microsoft.com/office/drawing/2014/main" id="{F10EE4EC-7E90-5A57-190F-EDCEF099B273}"/>
              </a:ext>
            </a:extLst>
          </p:cNvPr>
          <p:cNvSpPr txBox="1"/>
          <p:nvPr/>
        </p:nvSpPr>
        <p:spPr>
          <a:xfrm>
            <a:off x="951998" y="991852"/>
            <a:ext cx="7658602" cy="769441"/>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ROI Pooling &amp; Classification</a:t>
            </a:r>
          </a:p>
        </p:txBody>
      </p:sp>
      <p:sp>
        <p:nvSpPr>
          <p:cNvPr id="3" name="TextBox 2">
            <a:extLst>
              <a:ext uri="{FF2B5EF4-FFF2-40B4-BE49-F238E27FC236}">
                <a16:creationId xmlns:a16="http://schemas.microsoft.com/office/drawing/2014/main" id="{F2247367-21D6-FF1A-BF78-AABCDE5660BA}"/>
              </a:ext>
            </a:extLst>
          </p:cNvPr>
          <p:cNvSpPr txBox="1"/>
          <p:nvPr/>
        </p:nvSpPr>
        <p:spPr>
          <a:xfrm>
            <a:off x="1447799" y="2357872"/>
            <a:ext cx="9653337" cy="3347840"/>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Applies </a:t>
            </a:r>
            <a:r>
              <a:rPr lang="en-US" sz="2400" b="1" dirty="0">
                <a:latin typeface="Arial" panose="020B0604020202020204" pitchFamily="34" charset="0"/>
                <a:cs typeface="Arial" panose="020B0604020202020204" pitchFamily="34" charset="0"/>
              </a:rPr>
              <a:t>Region of Interest </a:t>
            </a:r>
            <a:r>
              <a:rPr lang="en-US" sz="2400" dirty="0">
                <a:latin typeface="Arial" panose="020B0604020202020204" pitchFamily="34" charset="0"/>
                <a:cs typeface="Arial" panose="020B0604020202020204" pitchFamily="34" charset="0"/>
              </a:rPr>
              <a:t>(ROI) Pooling to </a:t>
            </a:r>
            <a:r>
              <a:rPr lang="en-US" sz="2400" dirty="0">
                <a:solidFill>
                  <a:srgbClr val="FF0000"/>
                </a:solidFill>
                <a:latin typeface="Arial" panose="020B0604020202020204" pitchFamily="34" charset="0"/>
                <a:cs typeface="Arial" panose="020B0604020202020204" pitchFamily="34" charset="0"/>
              </a:rPr>
              <a:t>standardize</a:t>
            </a:r>
            <a:r>
              <a:rPr lang="en-US" sz="2400" dirty="0">
                <a:latin typeface="Arial" panose="020B0604020202020204" pitchFamily="34" charset="0"/>
                <a:cs typeface="Arial" panose="020B0604020202020204" pitchFamily="34" charset="0"/>
              </a:rPr>
              <a:t> feature map sizes.</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Converts variable-sized disease regions to </a:t>
            </a:r>
            <a:r>
              <a:rPr lang="en-US" sz="2400" dirty="0">
                <a:solidFill>
                  <a:srgbClr val="FF0000"/>
                </a:solidFill>
                <a:latin typeface="Arial" panose="020B0604020202020204" pitchFamily="34" charset="0"/>
                <a:cs typeface="Arial" panose="020B0604020202020204" pitchFamily="34" charset="0"/>
              </a:rPr>
              <a:t>fixed</a:t>
            </a:r>
            <a:r>
              <a:rPr lang="en-US" sz="2400" dirty="0">
                <a:latin typeface="Arial" panose="020B0604020202020204" pitchFamily="34" charset="0"/>
                <a:cs typeface="Arial" panose="020B0604020202020204" pitchFamily="34" charset="0"/>
              </a:rPr>
              <a:t> (e.g., 7×7).</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Uses max-pooling to </a:t>
            </a:r>
            <a:r>
              <a:rPr lang="en-US" sz="2400" dirty="0">
                <a:solidFill>
                  <a:srgbClr val="FF0000"/>
                </a:solidFill>
                <a:latin typeface="Arial" panose="020B0604020202020204" pitchFamily="34" charset="0"/>
                <a:cs typeface="Arial" panose="020B0604020202020204" pitchFamily="34" charset="0"/>
              </a:rPr>
              <a:t>preserve</a:t>
            </a:r>
            <a:r>
              <a:rPr lang="en-US" sz="2400" dirty="0">
                <a:latin typeface="Arial" panose="020B0604020202020204" pitchFamily="34" charset="0"/>
                <a:cs typeface="Arial" panose="020B0604020202020204" pitchFamily="34" charset="0"/>
              </a:rPr>
              <a:t> dominant features within ROIs.</a:t>
            </a:r>
          </a:p>
          <a:p>
            <a:pPr marL="342900" indent="-342900" algn="just">
              <a:lnSpc>
                <a:spcPct val="15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SVM</a:t>
            </a:r>
            <a:r>
              <a:rPr lang="en-US" sz="2400" dirty="0">
                <a:latin typeface="Arial" panose="020B0604020202020204" pitchFamily="34" charset="0"/>
                <a:cs typeface="Arial" panose="020B0604020202020204" pitchFamily="34" charset="0"/>
              </a:rPr>
              <a:t> classifier predicts </a:t>
            </a:r>
            <a:r>
              <a:rPr lang="en-US" sz="2400" dirty="0">
                <a:solidFill>
                  <a:srgbClr val="FF0000"/>
                </a:solidFill>
                <a:latin typeface="Arial" panose="020B0604020202020204" pitchFamily="34" charset="0"/>
                <a:cs typeface="Arial" panose="020B0604020202020204" pitchFamily="34" charset="0"/>
              </a:rPr>
              <a:t>disease</a:t>
            </a:r>
            <a:r>
              <a:rPr lang="en-US" sz="2400" dirty="0">
                <a:latin typeface="Arial" panose="020B0604020202020204" pitchFamily="34" charset="0"/>
                <a:cs typeface="Arial" panose="020B0604020202020204" pitchFamily="34" charset="0"/>
              </a:rPr>
              <a:t> presence (binary classification).</a:t>
            </a:r>
          </a:p>
          <a:p>
            <a:pPr marL="342900" indent="-342900" algn="just">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Outputs “</a:t>
            </a:r>
            <a:r>
              <a:rPr lang="en-US" sz="2400" dirty="0">
                <a:solidFill>
                  <a:srgbClr val="FF0000"/>
                </a:solidFill>
                <a:latin typeface="Arial" panose="020B0604020202020204" pitchFamily="34" charset="0"/>
                <a:cs typeface="Arial" panose="020B0604020202020204" pitchFamily="34" charset="0"/>
              </a:rPr>
              <a:t>diseased</a:t>
            </a:r>
            <a:r>
              <a:rPr lang="en-US" sz="2400" dirty="0">
                <a:latin typeface="Arial" panose="020B0604020202020204" pitchFamily="34" charset="0"/>
                <a:cs typeface="Arial" panose="020B0604020202020204" pitchFamily="34" charset="0"/>
              </a:rPr>
              <a:t>” or “</a:t>
            </a:r>
            <a:r>
              <a:rPr lang="en-US" sz="2400" dirty="0">
                <a:solidFill>
                  <a:srgbClr val="FF0000"/>
                </a:solidFill>
                <a:latin typeface="Arial" panose="020B0604020202020204" pitchFamily="34" charset="0"/>
                <a:cs typeface="Arial" panose="020B0604020202020204" pitchFamily="34" charset="0"/>
              </a:rPr>
              <a:t>healthy</a:t>
            </a:r>
            <a:r>
              <a:rPr lang="en-US" sz="2400" dirty="0">
                <a:latin typeface="Arial" panose="020B0604020202020204" pitchFamily="34" charset="0"/>
                <a:cs typeface="Arial" panose="020B0604020202020204" pitchFamily="34" charset="0"/>
              </a:rPr>
              <a:t>” label for each detected ROI.</a:t>
            </a:r>
          </a:p>
        </p:txBody>
      </p:sp>
    </p:spTree>
    <p:extLst>
      <p:ext uri="{BB962C8B-B14F-4D97-AF65-F5344CB8AC3E}">
        <p14:creationId xmlns:p14="http://schemas.microsoft.com/office/powerpoint/2010/main" val="2230399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60899-23BF-243F-6169-3D6E76BBF29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8917CBF-796D-EA9F-5FE8-36C78C497B39}"/>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6D1F54C-9F55-A224-F868-FE45A95ABB10}"/>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227E22E1-0A39-C6EE-D533-EEFEBC31FEDD}"/>
              </a:ext>
            </a:extLst>
          </p:cNvPr>
          <p:cNvSpPr>
            <a:spLocks noGrp="1"/>
          </p:cNvSpPr>
          <p:nvPr>
            <p:ph type="sldNum" sz="quarter" idx="12"/>
          </p:nvPr>
        </p:nvSpPr>
        <p:spPr/>
        <p:txBody>
          <a:bodyPr/>
          <a:lstStyle/>
          <a:p>
            <a:fld id="{A3972B19-0707-4BA0-BBBD-3AAEEE218156}" type="slidenum">
              <a:rPr lang="en-IN" smtClean="0"/>
              <a:t>12</a:t>
            </a:fld>
            <a:endParaRPr lang="en-IN"/>
          </a:p>
        </p:txBody>
      </p:sp>
      <p:sp>
        <p:nvSpPr>
          <p:cNvPr id="12" name="TextBox 11">
            <a:extLst>
              <a:ext uri="{FF2B5EF4-FFF2-40B4-BE49-F238E27FC236}">
                <a16:creationId xmlns:a16="http://schemas.microsoft.com/office/drawing/2014/main" id="{12040AF1-FA22-B40E-DBA5-59F080F8FEFB}"/>
              </a:ext>
            </a:extLst>
          </p:cNvPr>
          <p:cNvSpPr txBox="1"/>
          <p:nvPr/>
        </p:nvSpPr>
        <p:spPr>
          <a:xfrm>
            <a:off x="838200" y="870101"/>
            <a:ext cx="6112042" cy="769441"/>
          </a:xfrm>
          <a:prstGeom prst="rect">
            <a:avLst/>
          </a:prstGeom>
          <a:noFill/>
        </p:spPr>
        <p:txBody>
          <a:bodyPr wrap="square">
            <a:spAutoFit/>
          </a:bodyPr>
          <a:lstStyle/>
          <a:p>
            <a:r>
              <a:rPr lang="en-US" sz="4400" dirty="0">
                <a:latin typeface="Arial" panose="020B0604020202020204" pitchFamily="34" charset="0"/>
                <a:cs typeface="Arial" panose="020B0604020202020204" pitchFamily="34" charset="0"/>
              </a:rPr>
              <a:t>Results &amp; Findings</a:t>
            </a:r>
          </a:p>
        </p:txBody>
      </p:sp>
      <p:pic>
        <p:nvPicPr>
          <p:cNvPr id="14" name="Picture 13">
            <a:extLst>
              <a:ext uri="{FF2B5EF4-FFF2-40B4-BE49-F238E27FC236}">
                <a16:creationId xmlns:a16="http://schemas.microsoft.com/office/drawing/2014/main" id="{C5FC8958-9C36-05C8-BEDB-9E556655D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93" y="1715712"/>
            <a:ext cx="5600607" cy="3518308"/>
          </a:xfrm>
          <a:prstGeom prst="rect">
            <a:avLst/>
          </a:prstGeom>
        </p:spPr>
      </p:pic>
      <p:sp>
        <p:nvSpPr>
          <p:cNvPr id="16" name="TextBox 15">
            <a:extLst>
              <a:ext uri="{FF2B5EF4-FFF2-40B4-BE49-F238E27FC236}">
                <a16:creationId xmlns:a16="http://schemas.microsoft.com/office/drawing/2014/main" id="{B6A6AD9C-DDA6-B8DF-54CB-8A777F3BE68E}"/>
              </a:ext>
            </a:extLst>
          </p:cNvPr>
          <p:cNvSpPr txBox="1"/>
          <p:nvPr/>
        </p:nvSpPr>
        <p:spPr>
          <a:xfrm>
            <a:off x="6384759" y="1103010"/>
            <a:ext cx="5600606" cy="4651979"/>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Cross-entropy loss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Cross-entropy loss was used to track training quality—</a:t>
            </a:r>
            <a:r>
              <a:rPr lang="en-US" sz="2000" dirty="0">
                <a:solidFill>
                  <a:srgbClr val="FF0000"/>
                </a:solidFill>
                <a:latin typeface="Arial" panose="020B0604020202020204" pitchFamily="34" charset="0"/>
                <a:cs typeface="Arial" panose="020B0604020202020204" pitchFamily="34" charset="0"/>
              </a:rPr>
              <a:t>lower values </a:t>
            </a:r>
            <a:r>
              <a:rPr lang="en-US" sz="2000" dirty="0">
                <a:latin typeface="Arial" panose="020B0604020202020204" pitchFamily="34" charset="0"/>
                <a:cs typeface="Arial" panose="020B0604020202020204" pitchFamily="34" charset="0"/>
              </a:rPr>
              <a:t>indicate </a:t>
            </a:r>
            <a:r>
              <a:rPr lang="en-US" sz="2000" dirty="0">
                <a:solidFill>
                  <a:srgbClr val="FF0000"/>
                </a:solidFill>
                <a:latin typeface="Arial" panose="020B0604020202020204" pitchFamily="34" charset="0"/>
                <a:cs typeface="Arial" panose="020B0604020202020204" pitchFamily="34" charset="0"/>
              </a:rPr>
              <a:t>better performance.</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a:t>
            </a:r>
            <a:r>
              <a:rPr lang="en-US" sz="2000" dirty="0">
                <a:solidFill>
                  <a:srgbClr val="FF0000"/>
                </a:solidFill>
                <a:latin typeface="Arial" panose="020B0604020202020204" pitchFamily="34" charset="0"/>
                <a:cs typeface="Arial" panose="020B0604020202020204" pitchFamily="34" charset="0"/>
              </a:rPr>
              <a:t>best validation loss </a:t>
            </a:r>
            <a:r>
              <a:rPr lang="en-US" sz="2000" dirty="0">
                <a:latin typeface="Arial" panose="020B0604020202020204" pitchFamily="34" charset="0"/>
                <a:cs typeface="Arial" panose="020B0604020202020204" pitchFamily="34" charset="0"/>
              </a:rPr>
              <a:t>was </a:t>
            </a:r>
            <a:r>
              <a:rPr lang="en-US" sz="2000" b="1" dirty="0">
                <a:latin typeface="Arial" panose="020B0604020202020204" pitchFamily="34" charset="0"/>
                <a:cs typeface="Arial" panose="020B0604020202020204" pitchFamily="34" charset="0"/>
              </a:rPr>
              <a:t>0.11774</a:t>
            </a:r>
            <a:r>
              <a:rPr lang="en-US" sz="2000" dirty="0">
                <a:latin typeface="Arial" panose="020B0604020202020204" pitchFamily="34" charset="0"/>
                <a:cs typeface="Arial" panose="020B0604020202020204" pitchFamily="34" charset="0"/>
              </a:rPr>
              <a:t>, achieved at epoch </a:t>
            </a:r>
            <a:r>
              <a:rPr lang="en-US" sz="2000" b="1" dirty="0">
                <a:latin typeface="Arial" panose="020B0604020202020204" pitchFamily="34" charset="0"/>
                <a:cs typeface="Arial" panose="020B0604020202020204" pitchFamily="34" charset="0"/>
              </a:rPr>
              <a:t>23.</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graph </a:t>
            </a:r>
            <a:r>
              <a:rPr lang="en-US" sz="2000" b="1" dirty="0">
                <a:latin typeface="Arial" panose="020B0604020202020204" pitchFamily="34" charset="0"/>
                <a:cs typeface="Arial" panose="020B0604020202020204" pitchFamily="34" charset="0"/>
              </a:rPr>
              <a:t>shows</a:t>
            </a:r>
            <a:r>
              <a:rPr lang="en-US" sz="2000" dirty="0">
                <a:latin typeface="Arial" panose="020B0604020202020204" pitchFamily="34" charset="0"/>
                <a:cs typeface="Arial" panose="020B0604020202020204" pitchFamily="34" charset="0"/>
              </a:rPr>
              <a:t> a </a:t>
            </a:r>
            <a:r>
              <a:rPr lang="en-US" sz="2000" dirty="0">
                <a:solidFill>
                  <a:srgbClr val="FF0000"/>
                </a:solidFill>
                <a:latin typeface="Arial" panose="020B0604020202020204" pitchFamily="34" charset="0"/>
                <a:cs typeface="Arial" panose="020B0604020202020204" pitchFamily="34" charset="0"/>
              </a:rPr>
              <a:t>consistent drop </a:t>
            </a:r>
            <a:r>
              <a:rPr lang="en-US" sz="2000" dirty="0">
                <a:latin typeface="Arial" panose="020B0604020202020204" pitchFamily="34" charset="0"/>
                <a:cs typeface="Arial" panose="020B0604020202020204" pitchFamily="34" charset="0"/>
              </a:rPr>
              <a:t>in loss across training, validation, and test sets.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This indicates the model has </a:t>
            </a:r>
            <a:r>
              <a:rPr lang="en-US" sz="2000" dirty="0">
                <a:solidFill>
                  <a:srgbClr val="FF0000"/>
                </a:solidFill>
                <a:latin typeface="Arial" panose="020B0604020202020204" pitchFamily="34" charset="0"/>
                <a:cs typeface="Arial" panose="020B0604020202020204" pitchFamily="34" charset="0"/>
              </a:rPr>
              <a:t>learned</a:t>
            </a:r>
            <a:r>
              <a:rPr lang="en-US" sz="2000" dirty="0">
                <a:latin typeface="Arial" panose="020B0604020202020204" pitchFamily="34" charset="0"/>
                <a:cs typeface="Arial" panose="020B0604020202020204" pitchFamily="34" charset="0"/>
              </a:rPr>
              <a:t> the </a:t>
            </a:r>
            <a:r>
              <a:rPr lang="en-US" sz="2000" dirty="0">
                <a:solidFill>
                  <a:srgbClr val="FF0000"/>
                </a:solidFill>
                <a:latin typeface="Arial" panose="020B0604020202020204" pitchFamily="34" charset="0"/>
                <a:cs typeface="Arial" panose="020B0604020202020204" pitchFamily="34" charset="0"/>
              </a:rPr>
              <a:t>patterns effectively </a:t>
            </a:r>
            <a:r>
              <a:rPr lang="en-US" sz="2000" dirty="0">
                <a:latin typeface="Arial" panose="020B0604020202020204" pitchFamily="34" charset="0"/>
                <a:cs typeface="Arial" panose="020B0604020202020204" pitchFamily="34" charset="0"/>
              </a:rPr>
              <a:t>and </a:t>
            </a:r>
            <a:r>
              <a:rPr lang="en-US" sz="2000" dirty="0">
                <a:solidFill>
                  <a:srgbClr val="FF0000"/>
                </a:solidFill>
                <a:latin typeface="Arial" panose="020B0604020202020204" pitchFamily="34" charset="0"/>
                <a:cs typeface="Arial" panose="020B0604020202020204" pitchFamily="34" charset="0"/>
              </a:rPr>
              <a:t>avoids overfitting</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56630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60899-23BF-243F-6169-3D6E76BBF29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8917CBF-796D-EA9F-5FE8-36C78C497B39}"/>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6D1F54C-9F55-A224-F868-FE45A95ABB10}"/>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227E22E1-0A39-C6EE-D533-EEFEBC31FEDD}"/>
              </a:ext>
            </a:extLst>
          </p:cNvPr>
          <p:cNvSpPr>
            <a:spLocks noGrp="1"/>
          </p:cNvSpPr>
          <p:nvPr>
            <p:ph type="sldNum" sz="quarter" idx="12"/>
          </p:nvPr>
        </p:nvSpPr>
        <p:spPr/>
        <p:txBody>
          <a:bodyPr/>
          <a:lstStyle/>
          <a:p>
            <a:fld id="{A3972B19-0707-4BA0-BBBD-3AAEEE218156}" type="slidenum">
              <a:rPr lang="en-IN" smtClean="0"/>
              <a:t>13</a:t>
            </a:fld>
            <a:endParaRPr lang="en-IN"/>
          </a:p>
        </p:txBody>
      </p:sp>
      <p:sp>
        <p:nvSpPr>
          <p:cNvPr id="12" name="TextBox 11">
            <a:extLst>
              <a:ext uri="{FF2B5EF4-FFF2-40B4-BE49-F238E27FC236}">
                <a16:creationId xmlns:a16="http://schemas.microsoft.com/office/drawing/2014/main" id="{12040AF1-FA22-B40E-DBA5-59F080F8FEFB}"/>
              </a:ext>
            </a:extLst>
          </p:cNvPr>
          <p:cNvSpPr txBox="1"/>
          <p:nvPr/>
        </p:nvSpPr>
        <p:spPr>
          <a:xfrm>
            <a:off x="838200" y="870101"/>
            <a:ext cx="6112042" cy="769441"/>
          </a:xfrm>
          <a:prstGeom prst="rect">
            <a:avLst/>
          </a:prstGeom>
          <a:noFill/>
        </p:spPr>
        <p:txBody>
          <a:bodyPr wrap="square">
            <a:spAutoFit/>
          </a:bodyPr>
          <a:lstStyle/>
          <a:p>
            <a:r>
              <a:rPr lang="en-US" sz="4400" dirty="0">
                <a:latin typeface="Arial" panose="020B0604020202020204" pitchFamily="34" charset="0"/>
                <a:cs typeface="Arial" panose="020B0604020202020204" pitchFamily="34" charset="0"/>
              </a:rPr>
              <a:t>Results &amp; Findings</a:t>
            </a:r>
          </a:p>
        </p:txBody>
      </p:sp>
      <p:pic>
        <p:nvPicPr>
          <p:cNvPr id="14" name="Picture 13">
            <a:extLst>
              <a:ext uri="{FF2B5EF4-FFF2-40B4-BE49-F238E27FC236}">
                <a16:creationId xmlns:a16="http://schemas.microsoft.com/office/drawing/2014/main" id="{C5FC8958-9C36-05C8-BEDB-9E556655D3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2099" y="1747003"/>
            <a:ext cx="4425088" cy="3518308"/>
          </a:xfrm>
          <a:prstGeom prst="rect">
            <a:avLst/>
          </a:prstGeom>
        </p:spPr>
      </p:pic>
      <p:sp>
        <p:nvSpPr>
          <p:cNvPr id="16" name="TextBox 15">
            <a:extLst>
              <a:ext uri="{FF2B5EF4-FFF2-40B4-BE49-F238E27FC236}">
                <a16:creationId xmlns:a16="http://schemas.microsoft.com/office/drawing/2014/main" id="{B6A6AD9C-DDA6-B8DF-54CB-8A777F3BE68E}"/>
              </a:ext>
            </a:extLst>
          </p:cNvPr>
          <p:cNvSpPr txBox="1"/>
          <p:nvPr/>
        </p:nvSpPr>
        <p:spPr>
          <a:xfrm>
            <a:off x="5825197" y="1339167"/>
            <a:ext cx="6112042" cy="4651979"/>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Confusion matrices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Confusion matrices (Train, Val, Test, Overall) show high true positive rates across all classes.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Diagonal elements show correctly predicted cases, while off-diagonals show misclassifications.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Test confusion matrix shows:</a:t>
            </a:r>
          </a:p>
          <a:p>
            <a:pPr marL="1200150" lvl="2" indent="-28575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Class 1 </a:t>
            </a:r>
            <a:r>
              <a:rPr lang="en-US" sz="2000" dirty="0">
                <a:latin typeface="Arial" panose="020B0604020202020204" pitchFamily="34" charset="0"/>
                <a:cs typeface="Arial" panose="020B0604020202020204" pitchFamily="34" charset="0"/>
              </a:rPr>
              <a:t>(Diseased): 96.8% accuracy</a:t>
            </a:r>
          </a:p>
          <a:p>
            <a:pPr marL="1200150" lvl="2" indent="-28575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Class 2 </a:t>
            </a:r>
            <a:r>
              <a:rPr lang="en-US" sz="2000" dirty="0">
                <a:latin typeface="Arial" panose="020B0604020202020204" pitchFamily="34" charset="0"/>
                <a:cs typeface="Arial" panose="020B0604020202020204" pitchFamily="34" charset="0"/>
              </a:rPr>
              <a:t>(Healthy): 95.3% accuracy</a:t>
            </a:r>
          </a:p>
          <a:p>
            <a:pPr marL="1200150" lvl="2" indent="-28575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Overall </a:t>
            </a:r>
            <a:r>
              <a:rPr lang="en-US" sz="2000" dirty="0">
                <a:latin typeface="Arial" panose="020B0604020202020204" pitchFamily="34" charset="0"/>
                <a:cs typeface="Arial" panose="020B0604020202020204" pitchFamily="34" charset="0"/>
              </a:rPr>
              <a:t>: 98.7% accuracy</a:t>
            </a:r>
          </a:p>
        </p:txBody>
      </p:sp>
    </p:spTree>
    <p:extLst>
      <p:ext uri="{BB962C8B-B14F-4D97-AF65-F5344CB8AC3E}">
        <p14:creationId xmlns:p14="http://schemas.microsoft.com/office/powerpoint/2010/main" val="4005483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60899-23BF-243F-6169-3D6E76BBF29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8917CBF-796D-EA9F-5FE8-36C78C497B39}"/>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16D1F54C-9F55-A224-F868-FE45A95ABB10}"/>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227E22E1-0A39-C6EE-D533-EEFEBC31FEDD}"/>
              </a:ext>
            </a:extLst>
          </p:cNvPr>
          <p:cNvSpPr>
            <a:spLocks noGrp="1"/>
          </p:cNvSpPr>
          <p:nvPr>
            <p:ph type="sldNum" sz="quarter" idx="12"/>
          </p:nvPr>
        </p:nvSpPr>
        <p:spPr/>
        <p:txBody>
          <a:bodyPr/>
          <a:lstStyle/>
          <a:p>
            <a:fld id="{A3972B19-0707-4BA0-BBBD-3AAEEE218156}" type="slidenum">
              <a:rPr lang="en-IN" smtClean="0"/>
              <a:t>14</a:t>
            </a:fld>
            <a:endParaRPr lang="en-IN"/>
          </a:p>
        </p:txBody>
      </p:sp>
      <p:sp>
        <p:nvSpPr>
          <p:cNvPr id="12" name="TextBox 11">
            <a:extLst>
              <a:ext uri="{FF2B5EF4-FFF2-40B4-BE49-F238E27FC236}">
                <a16:creationId xmlns:a16="http://schemas.microsoft.com/office/drawing/2014/main" id="{12040AF1-FA22-B40E-DBA5-59F080F8FEFB}"/>
              </a:ext>
            </a:extLst>
          </p:cNvPr>
          <p:cNvSpPr txBox="1"/>
          <p:nvPr/>
        </p:nvSpPr>
        <p:spPr>
          <a:xfrm>
            <a:off x="838200" y="870101"/>
            <a:ext cx="6112042" cy="769441"/>
          </a:xfrm>
          <a:prstGeom prst="rect">
            <a:avLst/>
          </a:prstGeom>
          <a:noFill/>
        </p:spPr>
        <p:txBody>
          <a:bodyPr wrap="square">
            <a:spAutoFit/>
          </a:bodyPr>
          <a:lstStyle/>
          <a:p>
            <a:r>
              <a:rPr lang="en-US" sz="4400" dirty="0">
                <a:latin typeface="Arial" panose="020B0604020202020204" pitchFamily="34" charset="0"/>
                <a:cs typeface="Arial" panose="020B0604020202020204" pitchFamily="34" charset="0"/>
              </a:rPr>
              <a:t>Results &amp; Findings</a:t>
            </a:r>
          </a:p>
        </p:txBody>
      </p:sp>
      <p:pic>
        <p:nvPicPr>
          <p:cNvPr id="14" name="Picture 13">
            <a:extLst>
              <a:ext uri="{FF2B5EF4-FFF2-40B4-BE49-F238E27FC236}">
                <a16:creationId xmlns:a16="http://schemas.microsoft.com/office/drawing/2014/main" id="{C5FC8958-9C36-05C8-BEDB-9E556655D3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2099" y="2068157"/>
            <a:ext cx="4425088" cy="2875999"/>
          </a:xfrm>
          <a:prstGeom prst="rect">
            <a:avLst/>
          </a:prstGeom>
        </p:spPr>
      </p:pic>
      <p:sp>
        <p:nvSpPr>
          <p:cNvPr id="16" name="TextBox 15">
            <a:extLst>
              <a:ext uri="{FF2B5EF4-FFF2-40B4-BE49-F238E27FC236}">
                <a16:creationId xmlns:a16="http://schemas.microsoft.com/office/drawing/2014/main" id="{B6A6AD9C-DDA6-B8DF-54CB-8A777F3BE68E}"/>
              </a:ext>
            </a:extLst>
          </p:cNvPr>
          <p:cNvSpPr txBox="1"/>
          <p:nvPr/>
        </p:nvSpPr>
        <p:spPr>
          <a:xfrm>
            <a:off x="5825197" y="1610705"/>
            <a:ext cx="6112042" cy="4200124"/>
          </a:xfrm>
          <a:prstGeom prst="rect">
            <a:avLst/>
          </a:prstGeom>
          <a:noFill/>
        </p:spPr>
        <p:txBody>
          <a:bodyPr wrap="square">
            <a:spAutoFit/>
          </a:bodyPr>
          <a:lstStyle/>
          <a:p>
            <a:pPr algn="just">
              <a:lnSpc>
                <a:spcPct val="150000"/>
              </a:lnSpc>
            </a:pPr>
            <a:r>
              <a:rPr lang="en-US" sz="2000" b="1" dirty="0">
                <a:latin typeface="Arial" panose="020B0604020202020204" pitchFamily="34" charset="0"/>
                <a:cs typeface="Arial" panose="020B0604020202020204" pitchFamily="34" charset="0"/>
              </a:rPr>
              <a:t>ROC Curve Analysis</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ROC curves show </a:t>
            </a:r>
            <a:r>
              <a:rPr lang="en-US" sz="2000" dirty="0">
                <a:solidFill>
                  <a:srgbClr val="FF0000"/>
                </a:solidFill>
                <a:latin typeface="Arial" panose="020B0604020202020204" pitchFamily="34" charset="0"/>
                <a:cs typeface="Arial" panose="020B0604020202020204" pitchFamily="34" charset="0"/>
              </a:rPr>
              <a:t>performance</a:t>
            </a:r>
            <a:r>
              <a:rPr lang="en-US" sz="2000" dirty="0">
                <a:latin typeface="Arial" panose="020B0604020202020204" pitchFamily="34" charset="0"/>
                <a:cs typeface="Arial" panose="020B0604020202020204" pitchFamily="34" charset="0"/>
              </a:rPr>
              <a:t> for both </a:t>
            </a:r>
            <a:r>
              <a:rPr lang="en-US" sz="2000" b="1" dirty="0">
                <a:latin typeface="Arial" panose="020B0604020202020204" pitchFamily="34" charset="0"/>
                <a:cs typeface="Arial" panose="020B0604020202020204" pitchFamily="34" charset="0"/>
              </a:rPr>
              <a:t>disease</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healthy</a:t>
            </a:r>
            <a:r>
              <a:rPr lang="en-US" sz="2000" dirty="0">
                <a:latin typeface="Arial" panose="020B0604020202020204" pitchFamily="34" charset="0"/>
                <a:cs typeface="Arial" panose="020B0604020202020204" pitchFamily="34" charset="0"/>
              </a:rPr>
              <a:t> categories.</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curve approaches the </a:t>
            </a:r>
            <a:r>
              <a:rPr lang="en-US" sz="2000" dirty="0">
                <a:solidFill>
                  <a:srgbClr val="FF0000"/>
                </a:solidFill>
                <a:latin typeface="Arial" panose="020B0604020202020204" pitchFamily="34" charset="0"/>
                <a:cs typeface="Arial" panose="020B0604020202020204" pitchFamily="34" charset="0"/>
              </a:rPr>
              <a:t>top-left corner</a:t>
            </a:r>
            <a:r>
              <a:rPr lang="en-US" sz="2000" dirty="0">
                <a:latin typeface="Arial" panose="020B0604020202020204" pitchFamily="34" charset="0"/>
                <a:cs typeface="Arial" panose="020B0604020202020204" pitchFamily="34" charset="0"/>
              </a:rPr>
              <a:t>, indicating </a:t>
            </a:r>
            <a:r>
              <a:rPr lang="en-US" sz="2000" dirty="0">
                <a:solidFill>
                  <a:srgbClr val="FF0000"/>
                </a:solidFill>
                <a:latin typeface="Arial" panose="020B0604020202020204" pitchFamily="34" charset="0"/>
                <a:cs typeface="Arial" panose="020B0604020202020204" pitchFamily="34" charset="0"/>
              </a:rPr>
              <a:t>high</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sensitivity</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specificity</a:t>
            </a:r>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AUC (Area Under Curve) values are </a:t>
            </a:r>
            <a:r>
              <a:rPr lang="en-US" sz="2000" dirty="0">
                <a:solidFill>
                  <a:srgbClr val="FF0000"/>
                </a:solidFill>
                <a:latin typeface="Arial" panose="020B0604020202020204" pitchFamily="34" charset="0"/>
                <a:cs typeface="Arial" panose="020B0604020202020204" pitchFamily="34" charset="0"/>
              </a:rPr>
              <a:t>close</a:t>
            </a:r>
            <a:r>
              <a:rPr lang="en-US" sz="2000" dirty="0">
                <a:latin typeface="Arial" panose="020B0604020202020204" pitchFamily="34" charset="0"/>
                <a:cs typeface="Arial" panose="020B0604020202020204" pitchFamily="34" charset="0"/>
              </a:rPr>
              <a:t> to </a:t>
            </a:r>
            <a:r>
              <a:rPr lang="en-US" sz="2000" b="1" dirty="0">
                <a:latin typeface="Arial" panose="020B0604020202020204" pitchFamily="34" charset="0"/>
                <a:cs typeface="Arial" panose="020B0604020202020204" pitchFamily="34" charset="0"/>
              </a:rPr>
              <a:t>1.0</a:t>
            </a:r>
            <a:r>
              <a:rPr lang="en-US" sz="2000" dirty="0">
                <a:latin typeface="Arial" panose="020B0604020202020204" pitchFamily="34" charset="0"/>
                <a:cs typeface="Arial" panose="020B0604020202020204" pitchFamily="34" charset="0"/>
              </a:rPr>
              <a:t> in all sets—Train, Val, Test.</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RPN-SA model is </a:t>
            </a:r>
            <a:r>
              <a:rPr lang="en-US" sz="2000" dirty="0">
                <a:solidFill>
                  <a:srgbClr val="FF0000"/>
                </a:solidFill>
                <a:latin typeface="Arial" panose="020B0604020202020204" pitchFamily="34" charset="0"/>
                <a:cs typeface="Arial" panose="020B0604020202020204" pitchFamily="34" charset="0"/>
              </a:rPr>
              <a:t>highly reliable </a:t>
            </a:r>
            <a:r>
              <a:rPr lang="en-US" sz="2000" dirty="0">
                <a:latin typeface="Arial" panose="020B0604020202020204" pitchFamily="34" charset="0"/>
                <a:cs typeface="Arial" panose="020B0604020202020204" pitchFamily="34" charset="0"/>
              </a:rPr>
              <a:t>in distinguishing </a:t>
            </a:r>
            <a:r>
              <a:rPr lang="en-US" sz="2000" b="1" dirty="0">
                <a:latin typeface="Arial" panose="020B0604020202020204" pitchFamily="34" charset="0"/>
                <a:cs typeface="Arial" panose="020B0604020202020204" pitchFamily="34" charset="0"/>
              </a:rPr>
              <a:t>diseased</a:t>
            </a:r>
            <a:r>
              <a:rPr lang="en-US" sz="2000" dirty="0">
                <a:latin typeface="Arial" panose="020B0604020202020204" pitchFamily="34" charset="0"/>
                <a:cs typeface="Arial" panose="020B0604020202020204" pitchFamily="34" charset="0"/>
              </a:rPr>
              <a:t> vs. </a:t>
            </a:r>
            <a:r>
              <a:rPr lang="en-US" sz="2000" b="1" dirty="0">
                <a:latin typeface="Arial" panose="020B0604020202020204" pitchFamily="34" charset="0"/>
                <a:cs typeface="Arial" panose="020B0604020202020204" pitchFamily="34" charset="0"/>
              </a:rPr>
              <a:t>healthy</a:t>
            </a:r>
            <a:r>
              <a:rPr lang="en-US" sz="2000" dirty="0">
                <a:latin typeface="Arial" panose="020B0604020202020204" pitchFamily="34" charset="0"/>
                <a:cs typeface="Arial" panose="020B0604020202020204" pitchFamily="34" charset="0"/>
              </a:rPr>
              <a:t> leaves.</a:t>
            </a:r>
          </a:p>
        </p:txBody>
      </p:sp>
    </p:spTree>
    <p:extLst>
      <p:ext uri="{BB962C8B-B14F-4D97-AF65-F5344CB8AC3E}">
        <p14:creationId xmlns:p14="http://schemas.microsoft.com/office/powerpoint/2010/main" val="384789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6158A-1216-9675-1D1D-B36588FAB86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AC9D0BC-07D8-6469-C342-3734BA8EDB34}"/>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61AF5756-18B2-4F0E-5EDF-1A8A5A122DFB}"/>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B5390A7B-9F12-4EB3-FC98-951FA666CB7C}"/>
              </a:ext>
            </a:extLst>
          </p:cNvPr>
          <p:cNvSpPr>
            <a:spLocks noGrp="1"/>
          </p:cNvSpPr>
          <p:nvPr>
            <p:ph type="sldNum" sz="quarter" idx="12"/>
          </p:nvPr>
        </p:nvSpPr>
        <p:spPr/>
        <p:txBody>
          <a:bodyPr/>
          <a:lstStyle/>
          <a:p>
            <a:fld id="{A3972B19-0707-4BA0-BBBD-3AAEEE218156}" type="slidenum">
              <a:rPr lang="en-IN" smtClean="0"/>
              <a:t>15</a:t>
            </a:fld>
            <a:endParaRPr lang="en-IN"/>
          </a:p>
        </p:txBody>
      </p:sp>
      <p:sp>
        <p:nvSpPr>
          <p:cNvPr id="12" name="TextBox 11">
            <a:extLst>
              <a:ext uri="{FF2B5EF4-FFF2-40B4-BE49-F238E27FC236}">
                <a16:creationId xmlns:a16="http://schemas.microsoft.com/office/drawing/2014/main" id="{03FFC017-324C-0A25-BD8E-B178C90AF6FD}"/>
              </a:ext>
            </a:extLst>
          </p:cNvPr>
          <p:cNvSpPr txBox="1"/>
          <p:nvPr/>
        </p:nvSpPr>
        <p:spPr>
          <a:xfrm>
            <a:off x="990600" y="954323"/>
            <a:ext cx="6096000" cy="769441"/>
          </a:xfrm>
          <a:prstGeom prst="rect">
            <a:avLst/>
          </a:prstGeom>
          <a:noFill/>
        </p:spPr>
        <p:txBody>
          <a:bodyPr wrap="square">
            <a:spAutoFit/>
          </a:bodyPr>
          <a:lstStyle/>
          <a:p>
            <a:r>
              <a:rPr lang="en-US" sz="4400" dirty="0">
                <a:latin typeface="Arial" panose="020B0604020202020204" pitchFamily="34" charset="0"/>
                <a:cs typeface="Arial" panose="020B0604020202020204" pitchFamily="34" charset="0"/>
              </a:rPr>
              <a:t>Conclusion</a:t>
            </a:r>
          </a:p>
        </p:txBody>
      </p:sp>
      <p:sp>
        <p:nvSpPr>
          <p:cNvPr id="14" name="TextBox 13">
            <a:extLst>
              <a:ext uri="{FF2B5EF4-FFF2-40B4-BE49-F238E27FC236}">
                <a16:creationId xmlns:a16="http://schemas.microsoft.com/office/drawing/2014/main" id="{D5E74478-5DD9-9A2A-B054-21916DB88932}"/>
              </a:ext>
            </a:extLst>
          </p:cNvPr>
          <p:cNvSpPr txBox="1"/>
          <p:nvPr/>
        </p:nvSpPr>
        <p:spPr>
          <a:xfrm>
            <a:off x="1051413" y="1827935"/>
            <a:ext cx="10089173" cy="372864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proposed RPN-SA model effectively detects plant diseases at early stages with high accuracy.</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Experimental results show superior performance, achieving an overall accuracy of 98.7%, minimizing misclassifications.</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Confusion matrices and ROC curves confirm strong predictive capability across train, validation, and test phases.</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This model supports timely intervention in agriculture, ensuring better yield and reduced crop loss.</a:t>
            </a:r>
          </a:p>
        </p:txBody>
      </p:sp>
    </p:spTree>
    <p:extLst>
      <p:ext uri="{BB962C8B-B14F-4D97-AF65-F5344CB8AC3E}">
        <p14:creationId xmlns:p14="http://schemas.microsoft.com/office/powerpoint/2010/main" val="340176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53BD-F33A-5088-A1D7-4D97635079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59FF8B2-308C-DEAF-D86A-12C4ABB50B40}"/>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ADF337EC-D4A6-32E6-25CB-78799F0FE643}"/>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4DB81185-0C23-99BE-F1D2-2E02CE38261D}"/>
              </a:ext>
            </a:extLst>
          </p:cNvPr>
          <p:cNvSpPr>
            <a:spLocks noGrp="1"/>
          </p:cNvSpPr>
          <p:nvPr>
            <p:ph type="sldNum" sz="quarter" idx="12"/>
          </p:nvPr>
        </p:nvSpPr>
        <p:spPr/>
        <p:txBody>
          <a:bodyPr/>
          <a:lstStyle/>
          <a:p>
            <a:fld id="{A3972B19-0707-4BA0-BBBD-3AAEEE218156}" type="slidenum">
              <a:rPr lang="en-IN" smtClean="0"/>
              <a:t>16</a:t>
            </a:fld>
            <a:endParaRPr lang="en-IN"/>
          </a:p>
        </p:txBody>
      </p:sp>
      <p:sp>
        <p:nvSpPr>
          <p:cNvPr id="12" name="TextBox 11">
            <a:extLst>
              <a:ext uri="{FF2B5EF4-FFF2-40B4-BE49-F238E27FC236}">
                <a16:creationId xmlns:a16="http://schemas.microsoft.com/office/drawing/2014/main" id="{AB9C6F55-20FF-5CAA-8BF6-6C6F852BB6E8}"/>
              </a:ext>
            </a:extLst>
          </p:cNvPr>
          <p:cNvSpPr txBox="1"/>
          <p:nvPr/>
        </p:nvSpPr>
        <p:spPr>
          <a:xfrm>
            <a:off x="989868" y="936353"/>
            <a:ext cx="6097464" cy="769441"/>
          </a:xfrm>
          <a:prstGeom prst="rect">
            <a:avLst/>
          </a:prstGeom>
          <a:noFill/>
        </p:spPr>
        <p:txBody>
          <a:bodyPr wrap="square">
            <a:spAutoFit/>
          </a:bodyPr>
          <a:lstStyle/>
          <a:p>
            <a:r>
              <a:rPr lang="en-US" sz="4400" dirty="0">
                <a:latin typeface="Arial" panose="020B0604020202020204" pitchFamily="34" charset="0"/>
                <a:cs typeface="Arial" panose="020B0604020202020204" pitchFamily="34" charset="0"/>
              </a:rPr>
              <a:t>References</a:t>
            </a:r>
          </a:p>
        </p:txBody>
      </p:sp>
      <p:sp>
        <p:nvSpPr>
          <p:cNvPr id="20" name="TextBox 19">
            <a:extLst>
              <a:ext uri="{FF2B5EF4-FFF2-40B4-BE49-F238E27FC236}">
                <a16:creationId xmlns:a16="http://schemas.microsoft.com/office/drawing/2014/main" id="{3D992C63-8CB5-DB30-AA38-74FFA3D1CDF4}"/>
              </a:ext>
            </a:extLst>
          </p:cNvPr>
          <p:cNvSpPr txBox="1"/>
          <p:nvPr/>
        </p:nvSpPr>
        <p:spPr>
          <a:xfrm>
            <a:off x="1122947" y="1705794"/>
            <a:ext cx="10732169" cy="4524315"/>
          </a:xfrm>
          <a:prstGeom prst="rect">
            <a:avLst/>
          </a:prstGeom>
          <a:noFill/>
        </p:spPr>
        <p:txBody>
          <a:bodyPr wrap="square">
            <a:spAutoFit/>
          </a:bodyPr>
          <a:lstStyle/>
          <a:p>
            <a:pPr algn="just"/>
            <a:r>
              <a:rPr lang="en-US" dirty="0">
                <a:latin typeface="Arial" panose="020B0604020202020204" pitchFamily="34" charset="0"/>
                <a:cs typeface="Arial" panose="020B0604020202020204" pitchFamily="34" charset="0"/>
              </a:rPr>
              <a:t>[1] Y. Dong et al., "Automatic System for Crop Pest and Disease Dynamic Monitoring and Early Forecasting," in IEEE Journal of Selected Topics in Applied Earth Observations and Remote Sensing, vol. 13, pp. 4410-4418, 2020, </a:t>
            </a:r>
            <a:r>
              <a:rPr lang="en-US" dirty="0" err="1">
                <a:latin typeface="Arial" panose="020B0604020202020204" pitchFamily="34" charset="0"/>
                <a:cs typeface="Arial" panose="020B0604020202020204" pitchFamily="34" charset="0"/>
              </a:rPr>
              <a:t>doi</a:t>
            </a:r>
            <a:r>
              <a:rPr lang="en-US" dirty="0">
                <a:latin typeface="Arial" panose="020B0604020202020204" pitchFamily="34" charset="0"/>
                <a:cs typeface="Arial" panose="020B0604020202020204" pitchFamily="34" charset="0"/>
              </a:rPr>
              <a:t>: 10.1109/JSTARS.2020.3013340.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[2] R. </a:t>
            </a:r>
            <a:r>
              <a:rPr lang="en-US" dirty="0" err="1">
                <a:latin typeface="Arial" panose="020B0604020202020204" pitchFamily="34" charset="0"/>
                <a:cs typeface="Arial" panose="020B0604020202020204" pitchFamily="34" charset="0"/>
              </a:rPr>
              <a:t>Rakholia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J.Tailor</a:t>
            </a:r>
            <a:r>
              <a:rPr lang="en-US" dirty="0">
                <a:latin typeface="Arial" panose="020B0604020202020204" pitchFamily="34" charset="0"/>
                <a:cs typeface="Arial" panose="020B0604020202020204" pitchFamily="34" charset="0"/>
              </a:rPr>
              <a:t>, M. Prajapati, M. Shah, J. R. Saini, “Emerging Technology Adoption for Sustainable Agriculture in India– a Pilot Study”, Journal of Agriculture and Research, Vol.17, https://doi.org/10.1016/j.jafr.2024.101238.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[3] W. </a:t>
            </a:r>
            <a:r>
              <a:rPr lang="en-US" dirty="0" err="1">
                <a:latin typeface="Arial" panose="020B0604020202020204" pitchFamily="34" charset="0"/>
                <a:cs typeface="Arial" panose="020B0604020202020204" pitchFamily="34" charset="0"/>
              </a:rPr>
              <a:t>Shafik</a:t>
            </a:r>
            <a:r>
              <a:rPr lang="en-US" dirty="0">
                <a:latin typeface="Arial" panose="020B0604020202020204" pitchFamily="34" charset="0"/>
                <a:cs typeface="Arial" panose="020B0604020202020204" pitchFamily="34" charset="0"/>
              </a:rPr>
              <a:t>, A. Tufail, A. </a:t>
            </a:r>
            <a:r>
              <a:rPr lang="en-US" dirty="0" err="1">
                <a:latin typeface="Arial" panose="020B0604020202020204" pitchFamily="34" charset="0"/>
                <a:cs typeface="Arial" panose="020B0604020202020204" pitchFamily="34" charset="0"/>
              </a:rPr>
              <a:t>Namoun</a:t>
            </a:r>
            <a:r>
              <a:rPr lang="en-US" dirty="0">
                <a:latin typeface="Arial" panose="020B0604020202020204" pitchFamily="34" charset="0"/>
                <a:cs typeface="Arial" panose="020B0604020202020204" pitchFamily="34" charset="0"/>
              </a:rPr>
              <a:t>, L. C. De Silva and R. A. A. H. M. </a:t>
            </a:r>
            <a:r>
              <a:rPr lang="en-US" dirty="0" err="1">
                <a:latin typeface="Arial" panose="020B0604020202020204" pitchFamily="34" charset="0"/>
                <a:cs typeface="Arial" panose="020B0604020202020204" pitchFamily="34" charset="0"/>
              </a:rPr>
              <a:t>Apong</a:t>
            </a:r>
            <a:r>
              <a:rPr lang="en-US" dirty="0">
                <a:latin typeface="Arial" panose="020B0604020202020204" pitchFamily="34" charset="0"/>
                <a:cs typeface="Arial" panose="020B0604020202020204" pitchFamily="34" charset="0"/>
              </a:rPr>
              <a:t>, "A Systematic Literature Review on Plant Disease Detection: Motivations, Classification Techniques, Datasets, Challenges, and Future Trends," in IEEE Access, vol. 11, pp. 59174-59203, 2023, </a:t>
            </a:r>
            <a:r>
              <a:rPr lang="en-US" dirty="0" err="1">
                <a:latin typeface="Arial" panose="020B0604020202020204" pitchFamily="34" charset="0"/>
                <a:cs typeface="Arial" panose="020B0604020202020204" pitchFamily="34" charset="0"/>
              </a:rPr>
              <a:t>doi</a:t>
            </a:r>
            <a:r>
              <a:rPr lang="en-US" dirty="0">
                <a:latin typeface="Arial" panose="020B0604020202020204" pitchFamily="34" charset="0"/>
                <a:cs typeface="Arial" panose="020B0604020202020204" pitchFamily="34" charset="0"/>
              </a:rPr>
              <a:t>: 10.1109/ACCESS.2023.3284760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[4]  A. </a:t>
            </a:r>
            <a:r>
              <a:rPr lang="en-US" dirty="0" err="1">
                <a:latin typeface="Arial" panose="020B0604020202020204" pitchFamily="34" charset="0"/>
                <a:cs typeface="Arial" panose="020B0604020202020204" pitchFamily="34" charset="0"/>
              </a:rPr>
              <a:t>Picon</a:t>
            </a:r>
            <a:r>
              <a:rPr lang="en-US" dirty="0">
                <a:latin typeface="Arial" panose="020B0604020202020204" pitchFamily="34" charset="0"/>
                <a:cs typeface="Arial" panose="020B0604020202020204" pitchFamily="34" charset="0"/>
              </a:rPr>
              <a:t>, A. Alvarez-Gila, </a:t>
            </a:r>
            <a:r>
              <a:rPr lang="en-US" dirty="0" err="1">
                <a:latin typeface="Arial" panose="020B0604020202020204" pitchFamily="34" charset="0"/>
                <a:cs typeface="Arial" panose="020B0604020202020204" pitchFamily="34" charset="0"/>
              </a:rPr>
              <a:t>M.Seitz</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A.Ortiz-Barredo</a:t>
            </a:r>
            <a:r>
              <a:rPr lang="en-US" dirty="0">
                <a:latin typeface="Arial" panose="020B0604020202020204" pitchFamily="34" charset="0"/>
                <a:cs typeface="Arial" panose="020B0604020202020204" pitchFamily="34" charset="0"/>
              </a:rPr>
              <a:t>, J. </a:t>
            </a:r>
            <a:r>
              <a:rPr lang="en-US" dirty="0" err="1">
                <a:latin typeface="Arial" panose="020B0604020202020204" pitchFamily="34" charset="0"/>
                <a:cs typeface="Arial" panose="020B0604020202020204" pitchFamily="34" charset="0"/>
              </a:rPr>
              <a:t>Echazarra</a:t>
            </a:r>
            <a:r>
              <a:rPr lang="en-US" dirty="0">
                <a:latin typeface="Arial" panose="020B0604020202020204" pitchFamily="34" charset="0"/>
                <a:cs typeface="Arial" panose="020B0604020202020204" pitchFamily="34" charset="0"/>
              </a:rPr>
              <a:t>, A. Johannes, “Deep convolutional neural networks for mobile capture device-based crop disease classification in the wild”, Computers and Electronics in Agriculture, Vol.161, pp: 280 290, 2019, ISSN 0168-1699, https://doi.org/10.1016/j.compag.2018.04.002. </a:t>
            </a:r>
          </a:p>
        </p:txBody>
      </p:sp>
    </p:spTree>
    <p:extLst>
      <p:ext uri="{BB962C8B-B14F-4D97-AF65-F5344CB8AC3E}">
        <p14:creationId xmlns:p14="http://schemas.microsoft.com/office/powerpoint/2010/main" val="2251363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53BD-F33A-5088-A1D7-4D97635079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59FF8B2-308C-DEAF-D86A-12C4ABB50B40}"/>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ADF337EC-D4A6-32E6-25CB-78799F0FE643}"/>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4DB81185-0C23-99BE-F1D2-2E02CE38261D}"/>
              </a:ext>
            </a:extLst>
          </p:cNvPr>
          <p:cNvSpPr>
            <a:spLocks noGrp="1"/>
          </p:cNvSpPr>
          <p:nvPr>
            <p:ph type="sldNum" sz="quarter" idx="12"/>
          </p:nvPr>
        </p:nvSpPr>
        <p:spPr/>
        <p:txBody>
          <a:bodyPr/>
          <a:lstStyle/>
          <a:p>
            <a:fld id="{A3972B19-0707-4BA0-BBBD-3AAEEE218156}" type="slidenum">
              <a:rPr lang="en-IN" smtClean="0"/>
              <a:t>17</a:t>
            </a:fld>
            <a:endParaRPr lang="en-IN"/>
          </a:p>
        </p:txBody>
      </p:sp>
      <p:sp>
        <p:nvSpPr>
          <p:cNvPr id="12" name="TextBox 11">
            <a:extLst>
              <a:ext uri="{FF2B5EF4-FFF2-40B4-BE49-F238E27FC236}">
                <a16:creationId xmlns:a16="http://schemas.microsoft.com/office/drawing/2014/main" id="{AB9C6F55-20FF-5CAA-8BF6-6C6F852BB6E8}"/>
              </a:ext>
            </a:extLst>
          </p:cNvPr>
          <p:cNvSpPr txBox="1"/>
          <p:nvPr/>
        </p:nvSpPr>
        <p:spPr>
          <a:xfrm>
            <a:off x="989868" y="936353"/>
            <a:ext cx="6097464" cy="769441"/>
          </a:xfrm>
          <a:prstGeom prst="rect">
            <a:avLst/>
          </a:prstGeom>
          <a:noFill/>
        </p:spPr>
        <p:txBody>
          <a:bodyPr wrap="square">
            <a:spAutoFit/>
          </a:bodyPr>
          <a:lstStyle/>
          <a:p>
            <a:r>
              <a:rPr lang="en-US" sz="4400" dirty="0">
                <a:latin typeface="Arial" panose="020B0604020202020204" pitchFamily="34" charset="0"/>
                <a:cs typeface="Arial" panose="020B0604020202020204" pitchFamily="34" charset="0"/>
              </a:rPr>
              <a:t>References</a:t>
            </a:r>
          </a:p>
        </p:txBody>
      </p:sp>
      <p:sp>
        <p:nvSpPr>
          <p:cNvPr id="20" name="TextBox 19">
            <a:extLst>
              <a:ext uri="{FF2B5EF4-FFF2-40B4-BE49-F238E27FC236}">
                <a16:creationId xmlns:a16="http://schemas.microsoft.com/office/drawing/2014/main" id="{3D992C63-8CB5-DB30-AA38-74FFA3D1CDF4}"/>
              </a:ext>
            </a:extLst>
          </p:cNvPr>
          <p:cNvSpPr txBox="1"/>
          <p:nvPr/>
        </p:nvSpPr>
        <p:spPr>
          <a:xfrm>
            <a:off x="1122947" y="1705794"/>
            <a:ext cx="10732169" cy="4247317"/>
          </a:xfrm>
          <a:prstGeom prst="rect">
            <a:avLst/>
          </a:prstGeom>
          <a:noFill/>
        </p:spPr>
        <p:txBody>
          <a:bodyPr wrap="square">
            <a:spAutoFit/>
          </a:bodyPr>
          <a:lstStyle/>
          <a:p>
            <a:pPr algn="just"/>
            <a:r>
              <a:rPr lang="en-US" dirty="0">
                <a:latin typeface="Arial" panose="020B0604020202020204" pitchFamily="34" charset="0"/>
                <a:cs typeface="Arial" panose="020B0604020202020204" pitchFamily="34" charset="0"/>
              </a:rPr>
              <a:t>[5] Krishna MS, Machado P, </a:t>
            </a:r>
            <a:r>
              <a:rPr lang="en-US" dirty="0" err="1">
                <a:latin typeface="Arial" panose="020B0604020202020204" pitchFamily="34" charset="0"/>
                <a:cs typeface="Arial" panose="020B0604020202020204" pitchFamily="34" charset="0"/>
              </a:rPr>
              <a:t>Otuka</a:t>
            </a:r>
            <a:r>
              <a:rPr lang="en-US" dirty="0">
                <a:latin typeface="Arial" panose="020B0604020202020204" pitchFamily="34" charset="0"/>
                <a:cs typeface="Arial" panose="020B0604020202020204" pitchFamily="34" charset="0"/>
              </a:rPr>
              <a:t> RI, Yahaya SW, Neves dos Santos F, </a:t>
            </a:r>
            <a:r>
              <a:rPr lang="en-US" dirty="0" err="1">
                <a:latin typeface="Arial" panose="020B0604020202020204" pitchFamily="34" charset="0"/>
                <a:cs typeface="Arial" panose="020B0604020202020204" pitchFamily="34" charset="0"/>
              </a:rPr>
              <a:t>Ihianle</a:t>
            </a:r>
            <a:r>
              <a:rPr lang="en-US" dirty="0">
                <a:latin typeface="Arial" panose="020B0604020202020204" pitchFamily="34" charset="0"/>
                <a:cs typeface="Arial" panose="020B0604020202020204" pitchFamily="34" charset="0"/>
              </a:rPr>
              <a:t> IK, “Plant Leaf Disease Detection Using Deep Learning: A Multi-Dataset Approach”, J Multidisciplinary Scientific Journal, Vol. 8, No.1, pp: 1-24,2025, https://doi.org/10.3390/j8010004 .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[6] </a:t>
            </a:r>
            <a:r>
              <a:rPr lang="en-US" dirty="0" err="1">
                <a:latin typeface="Arial" panose="020B0604020202020204" pitchFamily="34" charset="0"/>
                <a:cs typeface="Arial" panose="020B0604020202020204" pitchFamily="34" charset="0"/>
              </a:rPr>
              <a:t>Loey</a:t>
            </a:r>
            <a:r>
              <a:rPr lang="en-US" dirty="0">
                <a:latin typeface="Arial" panose="020B0604020202020204" pitchFamily="34" charset="0"/>
                <a:cs typeface="Arial" panose="020B0604020202020204" pitchFamily="34" charset="0"/>
              </a:rPr>
              <a:t>, M., </a:t>
            </a:r>
            <a:r>
              <a:rPr lang="en-US" dirty="0" err="1">
                <a:latin typeface="Arial" panose="020B0604020202020204" pitchFamily="34" charset="0"/>
                <a:cs typeface="Arial" panose="020B0604020202020204" pitchFamily="34" charset="0"/>
              </a:rPr>
              <a:t>ElSawy</a:t>
            </a:r>
            <a:r>
              <a:rPr lang="en-US" dirty="0">
                <a:latin typeface="Arial" panose="020B0604020202020204" pitchFamily="34" charset="0"/>
                <a:cs typeface="Arial" panose="020B0604020202020204" pitchFamily="34" charset="0"/>
              </a:rPr>
              <a:t>, A., &amp; </a:t>
            </a:r>
            <a:r>
              <a:rPr lang="en-US" dirty="0" err="1">
                <a:latin typeface="Arial" panose="020B0604020202020204" pitchFamily="34" charset="0"/>
                <a:cs typeface="Arial" panose="020B0604020202020204" pitchFamily="34" charset="0"/>
              </a:rPr>
              <a:t>Afify</a:t>
            </a:r>
            <a:r>
              <a:rPr lang="en-US" dirty="0">
                <a:latin typeface="Arial" panose="020B0604020202020204" pitchFamily="34" charset="0"/>
                <a:cs typeface="Arial" panose="020B0604020202020204" pitchFamily="34" charset="0"/>
              </a:rPr>
              <a:t>, M., “Deep Learning in Plant Diseases Detection for Agricultural Crops: A Survey”, International Journal of Service Science, Management, Engineering, and Technology, Vol. 11, No.2, pp:41-58, 2020, https://doi.org/10.4018/IJSSMET.202004010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[7] Md. </a:t>
            </a:r>
            <a:r>
              <a:rPr lang="en-US" dirty="0" err="1">
                <a:latin typeface="Arial" panose="020B0604020202020204" pitchFamily="34" charset="0"/>
                <a:cs typeface="Arial" panose="020B0604020202020204" pitchFamily="34" charset="0"/>
              </a:rPr>
              <a:t>Ashiqul</a:t>
            </a:r>
            <a:r>
              <a:rPr lang="en-US" dirty="0">
                <a:latin typeface="Arial" panose="020B0604020202020204" pitchFamily="34" charset="0"/>
                <a:cs typeface="Arial" panose="020B0604020202020204" pitchFamily="34" charset="0"/>
              </a:rPr>
              <a:t> Islam, Md. </a:t>
            </a:r>
            <a:r>
              <a:rPr lang="en-US" dirty="0" err="1">
                <a:latin typeface="Arial" panose="020B0604020202020204" pitchFamily="34" charset="0"/>
                <a:cs typeface="Arial" panose="020B0604020202020204" pitchFamily="34" charset="0"/>
              </a:rPr>
              <a:t>Nymur</a:t>
            </a:r>
            <a:r>
              <a:rPr lang="en-US" dirty="0">
                <a:latin typeface="Arial" panose="020B0604020202020204" pitchFamily="34" charset="0"/>
                <a:cs typeface="Arial" panose="020B0604020202020204" pitchFamily="34" charset="0"/>
              </a:rPr>
              <a:t> Rahman Shuvo, Muhammad </a:t>
            </a:r>
            <a:r>
              <a:rPr lang="en-US" dirty="0" err="1">
                <a:latin typeface="Arial" panose="020B0604020202020204" pitchFamily="34" charset="0"/>
                <a:cs typeface="Arial" panose="020B0604020202020204" pitchFamily="34" charset="0"/>
              </a:rPr>
              <a:t>Shamsojjaman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Shazid</a:t>
            </a:r>
            <a:r>
              <a:rPr lang="en-US" dirty="0">
                <a:latin typeface="Arial" panose="020B0604020202020204" pitchFamily="34" charset="0"/>
                <a:cs typeface="Arial" panose="020B0604020202020204" pitchFamily="34" charset="0"/>
              </a:rPr>
              <a:t> Hasan, Md. Shahadat Hossain and Tania Khatun, “An Automated Convolutional Neural Network Based Approach for Paddy Leaf Disease Detection,” International Journal of Advanced Computer Science and Applications, Vol. 12, No. 1, 2021, http://dx.doi.org/10.14569/IJACSA.2021.0120134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[8] L. Li, S. Zhang and B. Wang, "Plant Disease Detection and Classification by Deep Learning—A Review," IEEE Access, vol. 9, pp. 56683-56698, April 2021, </a:t>
            </a:r>
            <a:r>
              <a:rPr lang="en-US" dirty="0" err="1">
                <a:latin typeface="Arial" panose="020B0604020202020204" pitchFamily="34" charset="0"/>
                <a:cs typeface="Arial" panose="020B0604020202020204" pitchFamily="34" charset="0"/>
              </a:rPr>
              <a:t>doi</a:t>
            </a:r>
            <a:r>
              <a:rPr lang="en-US" dirty="0">
                <a:latin typeface="Arial" panose="020B0604020202020204" pitchFamily="34" charset="0"/>
                <a:cs typeface="Arial" panose="020B0604020202020204" pitchFamily="34" charset="0"/>
              </a:rPr>
              <a:t>: 10.1109/ACCESS.2021.3069646.. </a:t>
            </a:r>
          </a:p>
        </p:txBody>
      </p:sp>
    </p:spTree>
    <p:extLst>
      <p:ext uri="{BB962C8B-B14F-4D97-AF65-F5344CB8AC3E}">
        <p14:creationId xmlns:p14="http://schemas.microsoft.com/office/powerpoint/2010/main" val="3341879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E53BD-F33A-5088-A1D7-4D97635079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59FF8B2-308C-DEAF-D86A-12C4ABB50B40}"/>
              </a:ext>
            </a:extLst>
          </p:cNvPr>
          <p:cNvSpPr>
            <a:spLocks noGrp="1"/>
          </p:cNvSpPr>
          <p:nvPr>
            <p:ph type="dt" sz="half" idx="10"/>
          </p:nvPr>
        </p:nvSpPr>
        <p:spPr/>
        <p:txBody>
          <a:bodyPr/>
          <a:lstStyle/>
          <a:p>
            <a:fld id="{31E50165-BB7E-44AB-9A57-5F773B259CE4}" type="datetime1">
              <a:rPr lang="en-IN" smtClean="0"/>
              <a:t>29-04-2025</a:t>
            </a:fld>
            <a:endParaRPr lang="en-IN"/>
          </a:p>
        </p:txBody>
      </p:sp>
      <p:sp>
        <p:nvSpPr>
          <p:cNvPr id="5" name="Footer Placeholder 4">
            <a:extLst>
              <a:ext uri="{FF2B5EF4-FFF2-40B4-BE49-F238E27FC236}">
                <a16:creationId xmlns:a16="http://schemas.microsoft.com/office/drawing/2014/main" id="{ADF337EC-D4A6-32E6-25CB-78799F0FE643}"/>
              </a:ext>
            </a:extLst>
          </p:cNvPr>
          <p:cNvSpPr>
            <a:spLocks noGrp="1"/>
          </p:cNvSpPr>
          <p:nvPr>
            <p:ph type="ftr" sz="quarter" idx="11"/>
          </p:nvPr>
        </p:nvSpPr>
        <p:spPr/>
        <p:txBody>
          <a:bodyPr/>
          <a:lstStyle/>
          <a:p>
            <a:r>
              <a:rPr lang="en-US"/>
              <a:t>4TH International conference on Deep sciences for  computing and communications  (ICONDEEPCOM 2025)</a:t>
            </a:r>
            <a:endParaRPr lang="en-IN"/>
          </a:p>
        </p:txBody>
      </p:sp>
      <p:sp>
        <p:nvSpPr>
          <p:cNvPr id="6" name="Slide Number Placeholder 5">
            <a:extLst>
              <a:ext uri="{FF2B5EF4-FFF2-40B4-BE49-F238E27FC236}">
                <a16:creationId xmlns:a16="http://schemas.microsoft.com/office/drawing/2014/main" id="{4DB81185-0C23-99BE-F1D2-2E02CE38261D}"/>
              </a:ext>
            </a:extLst>
          </p:cNvPr>
          <p:cNvSpPr>
            <a:spLocks noGrp="1"/>
          </p:cNvSpPr>
          <p:nvPr>
            <p:ph type="sldNum" sz="quarter" idx="12"/>
          </p:nvPr>
        </p:nvSpPr>
        <p:spPr/>
        <p:txBody>
          <a:bodyPr/>
          <a:lstStyle/>
          <a:p>
            <a:fld id="{A3972B19-0707-4BA0-BBBD-3AAEEE218156}" type="slidenum">
              <a:rPr lang="en-IN" smtClean="0"/>
              <a:t>18</a:t>
            </a:fld>
            <a:endParaRPr lang="en-IN"/>
          </a:p>
        </p:txBody>
      </p:sp>
      <p:sp>
        <p:nvSpPr>
          <p:cNvPr id="12" name="TextBox 11">
            <a:extLst>
              <a:ext uri="{FF2B5EF4-FFF2-40B4-BE49-F238E27FC236}">
                <a16:creationId xmlns:a16="http://schemas.microsoft.com/office/drawing/2014/main" id="{AB9C6F55-20FF-5CAA-8BF6-6C6F852BB6E8}"/>
              </a:ext>
            </a:extLst>
          </p:cNvPr>
          <p:cNvSpPr txBox="1"/>
          <p:nvPr/>
        </p:nvSpPr>
        <p:spPr>
          <a:xfrm>
            <a:off x="3163765" y="2644170"/>
            <a:ext cx="6191249" cy="1569660"/>
          </a:xfrm>
          <a:prstGeom prst="rect">
            <a:avLst/>
          </a:prstGeom>
          <a:noFill/>
        </p:spPr>
        <p:txBody>
          <a:bodyPr wrap="square">
            <a:spAutoFit/>
          </a:bodyPr>
          <a:lstStyle/>
          <a:p>
            <a:r>
              <a:rPr lang="en-US" sz="9600" dirty="0">
                <a:latin typeface="Arial" panose="020B0604020202020204" pitchFamily="34" charset="0"/>
                <a:cs typeface="Arial" panose="020B0604020202020204" pitchFamily="34" charset="0"/>
              </a:rPr>
              <a:t>Thank You</a:t>
            </a:r>
            <a:endParaRPr lang="en-US"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2438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1647</Words>
  <Application>Microsoft Office PowerPoint</Application>
  <PresentationFormat>Widescreen</PresentationFormat>
  <Paragraphs>159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Early Detection of Plant Diseases using Optimized Deep Learning Techniques  Paper id:130</dc:title>
  <dc:creator>Jackulin A 101370</dc:creator>
  <cp:lastModifiedBy>NOORUL HASSAN</cp:lastModifiedBy>
  <cp:revision>7</cp:revision>
  <dcterms:created xsi:type="dcterms:W3CDTF">2025-04-22T02:56:28Z</dcterms:created>
  <dcterms:modified xsi:type="dcterms:W3CDTF">2025-04-29T15:32:11Z</dcterms:modified>
</cp:coreProperties>
</file>